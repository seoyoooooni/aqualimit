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86" r:id="rId3"/>
    <p:sldId id="259" r:id="rId4"/>
    <p:sldId id="257" r:id="rId5"/>
    <p:sldId id="274" r:id="rId6"/>
    <p:sldId id="278" r:id="rId7"/>
    <p:sldId id="279" r:id="rId8"/>
    <p:sldId id="280" r:id="rId9"/>
    <p:sldId id="282" r:id="rId10"/>
    <p:sldId id="283" r:id="rId11"/>
    <p:sldId id="285" r:id="rId12"/>
    <p:sldId id="262" r:id="rId13"/>
    <p:sldId id="272" r:id="rId14"/>
    <p:sldId id="261" r:id="rId15"/>
    <p:sldId id="265" r:id="rId16"/>
    <p:sldId id="266" r:id="rId17"/>
    <p:sldId id="284" r:id="rId18"/>
    <p:sldId id="268" r:id="rId19"/>
    <p:sldId id="270" r:id="rId20"/>
    <p:sldId id="271"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08"/>
    <p:restoredTop sz="68750"/>
  </p:normalViewPr>
  <p:slideViewPr>
    <p:cSldViewPr snapToGrid="0" snapToObjects="1">
      <p:cViewPr>
        <p:scale>
          <a:sx n="70" d="100"/>
          <a:sy n="70" d="100"/>
        </p:scale>
        <p:origin x="26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183761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오늘은 지난 발표 이후 2주 동안 한 일을 말씀드리겠습니다. AquaLimit은 위성으로 잰 지반침하로 땅속 모델을 맞추고, 침하 기준을 지키려면 어느 우물을 얼마나 줄여야 하는지 계산하는 서비스입니다. 미국 캘리포니아 주정부 수로 구간에서 실제 자료로 검증했고, 국내에서는 농림위성과 수자원위성으로 입력을 바꿔 적용합니다.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지난 발표 이후 2주 동안 한 일을 먼저 한 장으로 정리했습니다. 모델을 고쳐 GPS 오차를 줄였고, 취수가 실제로 바뀐 사건으로 모델의 반응을 테스트했습니다. 기온과 수로 물을 모델에 넣어 효과를 확인했고, 가정이던 우물과 기준을 실제 신고 우물과 실제 기준값으로 바꿔 정책을 비교했습니다. 위성만으로 금지가 지켜지는지 점검하는 방법과, 우물 위치를 바로 바꿔 계산하는 AI도 만들었습니다. 아직 못 한 것도 있습니다. 3년 누적 침하량은 여전히 단순 추세 연장이 더 정확합니다. 오른쪽 숫자는 각 내용을 자세히 보여 드릴 장입니다.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캘리포니아 주정부 수로는 주변 농장이 지하수를 뽑으면서 땅이 꺼지고 있습니다. 2023년에는 침하 때문에 수로 수송 능력이 44% 줄었고, 주정부는 장기 보수비를 38억 7천만 달러로 추정합니다. 관리기관은 2024년 12월부터 수로 양쪽 4km 안 지하수 취수를 전면 금지했습니다. 금지 후 1년은 수로 물이 오히려 더 많이 왔는데도 GPS 침하 속도는 줄지 않았고, 남쪽은 최근 1년 기준을 넘습니다. 관리기관과 주정부 모두 침하를 원인별로 나누지 못한다고 했습니다. 원인을 모르면 다음 조치를 정할 수 없습니다.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AquaLimit이 하는 일은 세 단계입니다. 먼저 위성이 매달 땅 높이를 mm 단위로 잽니다. 그 침하를 땅속 시뮬레이터가 그대로 재현하도록, 땅속 점토 성질을 거꾸로 찾습니다. 그렇게 맞춘 모델로 침하 기준을 지키면서 비용이 가장 적게 드는 우물별 감량안을 계산합니다. 관리기관은 이걸로 세 가지 답을 얻습니다. 취수 금지가 지켜지고 있는지, 다 지켜도 충분한지, 부족하면 가장 싼 보완책이 무엇인지입니다. 점토층은 스펀지와 같아서, 지하수를 뽑으면 물 짜낸 스펀지처럼 납작해지고 한 번 눌린 점토는 대부분 돌아오지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2주 동안의 개발 과정을 실험 순서대로 보여 드리겠습니다. 실험 장은 모두 같은 틀입니다. 모든 실험에서 자료를 세 갈래로 나눴습니다. 모델에 그대로 넣는 자료, 땅속 성질을 거꾸로 찾는 데 쓰는 보정 자료, 그리고 보정에 절대 쓰지 않는 테스트 자료입니다. 개선 여부는 2019년까지로 보정해 2020~22를 맞히는 연습 시험으로만 판단하고, 보정에 안 쓴 GPS로 테스트하는 최종 시험은 모델을 확정할 때 한 번만 봅니다. 정답에 맞춰 모델을 고르지 않기 위해서입니다.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지난 발표 때 버전은 GPS 오차가 25.2mm였고, 3년 예측이 단순 추세보다 부정확했습니다. 그래서 모델 구조를 고친 v3를 만들었습니다. 점토층이 수위가 내려간 뒤 몇 년에 걸쳐 늦게 눌리는 현상, 그리고 2005년부터 10년간의 과거 취수 이력을 넣어 2015년 시작 상태에 이미 진행 중인 침하를 담았습니다. GPS 오차는 25.2에서 21.2mm로 줄었고, 불확실성 범위는 GPS를 99% 포함하면서 폭이 265에서 97mm로 줄었습니다. 그래도 추세 연장 7.2mm는 아직 못 이겼습니다.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날씨와 온도를 넣은 효과를 확인하는 실험입니다. 입력을 하나씩 빼고 처음부터 다시 보정해 GPS로 테스트했습니다. 기상을 해마다 같게 하면 2.3mm, 수로 물 배분율을 같게 하면 3.5mm 나빠졌습니다. 둘 다 예측에 도움이 된다는 뜻입니다. 반대로 밭별 위성 정보는 빼니까 오히려 좋아졌는데, 이 결과도 그대로 보고합니다. 다만 테스트 지점이 수로 옆 GPS 5곳뿐이라 2mm 차이는 우연일 수 있고, 최종 시험 점수를 보고 모델을 바꾸면 정답에 맞춰 고르는 셈이라 원칙대로 그대로 두었습니다. 연습 시험으로 다시 확인하겠습니다.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계획과 정책은 취수를 바꾸면 침하가 얼마나 바뀌는지, 즉 응답으로 정해집니다. 그래서 실제로 취수가 크게 바뀐 사건 두 개로 응답을 테스트했습니다. 2022년까지만 보정한 모델이라 두 사건 모두 모델에게는 미래입니다. 2023년 습한 해에 수로 물이 늘어 침하가 느려진 것은 크기까지 맞혔습니다. 하지만 2024년 12월 취수 금지 뒤에는 모델이 감속을 예측했는데 실제로는 줄지 않았습니다. 처음에는 구간을 잘못 잡아 '금지 후 빨라졌다'고 봤는데, GPS에 계절 변동이 있는 걸 발견하고 1년 단위로 다시 테스트해 '줄지 않았다'로 고쳤습니다.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3년 예측이 추세 연장보다 못해서 모델 구조 후보 6개를 시험했습니다. 정답에 맞춰 고르지 않으려고, 2019년까지로만 보정해 2020~22를 맞히는 연습 시험으로만 판단했습니다. 6개 모두 v3보다 나빴습니다. 그런데 이상한 점이 있었습니다. '앞으로 안 꺼진다'는 예측이 1등이었습니다. 2021~22년은 수로 물이 5%밖에 안 나온 대가뭄인데 침하가 멈췄다는 건 말이 안 됩니다. 그래서 모델이 아니라 정답으로 쓴 위성 자료를 의심했습니다.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정답으로 쓰던 DWR 위성 자료를 GPS로 먼저 테스트했습니다. 연습 시험 기간에 GPS가 있는 유일한 곳 P544에서 GPS는 27.8mm 꺼졌는데, NASA OPERA는 24.9mm, DWR은 13.6mm로 절반만 잡았습니다. 2023년 이후에는 DWR가 GPS와 반대 방향인 곳도 있었습니다. 그래서 정답을 OPERA로 바꾸고, 모델은 다시 보정하지 않은 채 테스트만 다시 했습니다. 물리모델 7개 중 순위는 그대로여서 v3로 확정했고(단순 예측까지 넣으면 DWR 정답에선 '앞으로 안 꺼진다'가, OPERA 정답에선 '추세 연장'이 전체 1등입니다), 그동안 보였던 과대예측은 편향이 18mm에서 2mm로 줄어 자료 탓이었습니다. 정답을 바꾸자 오히려 추세 연장이 더 좋아졌으니, 우리에게 유리하게 바꾼 것도 아닙니다. 추가로 OPERA 자료로 모델을 처음부터 다시 맞춰 봤는데, 최종 시험 GPS 오차가 21.8mm로 기존 21.2mm보다 나아지지 않았습니다. 그래서 3년 예측은 실험 11에서 다른 방법으로 보완을 시도했습니다.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모델 개발의 마지막 실험은 3년 예측을 추세 연장보다 좋게 만드는 시도였습니다. 세 가지를 해 봤고 모두 기준을 넘지 못했습니다. 칸마다 위성과 모델의 비율을 곱하는 방식은 P544에서는 21mm 오차를 5.2mm로 줄였지만, 수로 바로 옆 칸에서는 오히려 나빠졌습니다. 그래서 원인은 칸마다 꺼지는 정도의 분포라는 걸 확인했습니다. 다음 단계는 예측 뒤에 곱하는 대신, 칸별 점토 성질을 모델 안에서 위성과 GPS로 함께 보정하는 것입니다. 그때까지는 지금처럼 할 때의 전망은 위성 추세로, 취수를 바꿀 때의 효과는 물리모델로 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지금까지의 개발 결과를 정리하겠습니다. 2022년까지 자료로만 모델을 맞추고, 맞출 때 쓰지 않은 2023년 이후 수로 GPS로 테스트했습니다. 위성을 넣으면 관측정만 쓸 때보다 오차가 3분의 1로 줄어듭니다. 위성 없이는 땅속 점토 성질을 정할 수 없습니다. 계획에 실제로 쓰는 건 '취수를 바꾸면 침하가 얼마나 달라지나'입니다. 수로 물이 크게 늘어 지하수를 덜 뽑은 2023년, 침하가 느려진 정도를 모델은 연 9.0mm, GPS는 9.3mm로 크기까지 맞혔습니다. 다만 2024년 금지 뒤에는 모델이 감속을 예측했는데 실제로는 줄지 않았습니다. 이 차이가 뒤에서 말씀드릴 '금지구역 안 취수'의 단서입니다. 솔직하게 말씀드리면 3년 누적 침하량은 아직 과거 추세를 그대로 늘린 단순 예측이 더 정확합니다. 그래서 '지금처럼 하면'의 전망은 위성 추세로, '취수를 바꾸면'의 효과는 물리모델로 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마지막으로 한계를 먼저 말씀드립니다. 3년 누적 침하량은 아직 단순 추세가 더 잘 맞힙니다. 원인은 칸마다 꺼지는 정도의 분포를 9개 구역으로만 잡은 데 있어서, 다음 단계로 칸별 점토 성질을 모델 안에서 위성과 GPS로 함께 보정하려고 합니다. 금지 후 보이지 않는 취수는 어떤 위성 자료로 보정하느냐에 따라 추정이 갈려서, 위반을 단정하지 않고 먼저 확인할 곳으로만 씁니다. 수로 GPS의 계절 변동 때문에 GPS로 보는 판정은 1년 단위로 합니다. 정책 비교의 기준은 연 기준을 3개월로 나눈 값이라 엄격한 편입니다. 계획을 확인하는 앙상블은 다음 관개기 기준 15개라, 100%라는 숫자의 꼬리 위험은 구성원을 늘려 다시 확인하겠습니다. 다음 주에는 관리기관과 주정부 수로 침하 사업에 질문 메일을 보냅니다.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고객 가치는 취수 금지가 실제로 지켜지는지 점검하는 것입니다. 모델 없이 위성 관측만으로, 금지 전 1년과 후 1년의 침하 속도 변화를 금지구역 안과 밖에서 비교했습니다. 두 해는 수로 물 사정이 비슷합니다. 금지가 지켜졌다면 안쪽이 더 좋아졌어야 하는데, 오히려 안쪽이 연 2.9mm 덜 좋아졌습니다. 모델로 원인을 나눠 봐도 같은 방향입니다. 금지 후 수로 침하 연 10mm 중 금지구역 안에서 계속된 취수 몫이 가장 크고, 금지를 완전히 지켰다면 수로 평균 침하는 거의 멈췄습니다. 다만 위반을 단정하지는 않습니다. 늦게 눌리는 점토의 몫도 섞여 있고, 밭이 쓴 물이 지하수인지 수로 물인지는 위성으로 알 수 없습니다. 그래서 지도의 초록 원 10곳을 '먼저 확인할 곳' 목록으로 드리고, 확정은 유량계로 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번째는 금지를 다 지켜도 충분한가입니다. 앞 장의 '거의 멈춤'은 지난 1년 수로 평균입니다. 침하가 몰리는 여름 관개기를 수로 38개 지점마다 보면 다릅니다. 4km 금지를 완벽히 지켜도 습한 해에는 지점의 76%, 평년에는 45%, 가뭄·폭염에는 32%만 기준을 지킵니다. 가뭄일수록 금지구역 밖 취수가 늘기 때문입니다. 같은 보호 수준이라면 금지도 꽤 효율적이지만(최적 배분과 3% 차이), 보호 수준 자체가 모자랍니다. 기준은 연 0.5인치를 3개월로 나눈 값이라 엄격한 편이고, 18개월로 본 대가뭄 재현에서는 금지로 모든 지점이 기준 안이었습니다. 여기서 비용은 줄인 지하수만큼 대체 용수를 사는 값입니다. 참고로 올해 실제 수로 배분율은 5월 중순 45%로 올라 '습한 해'에 가깝습니다.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관리기관이 바로 떠올릴 대안은 금지 반경을 넓히는 겁니다. 그래서 금지 반경과 AquaLimit을 같은 신뢰도, 즉 물리모델 앙상블의 모든 경우에서 수로 38개 지점이 모두 기준 안에 드는 수준에 맞춰 비용을 비교했습니다. 가뭄에도 지키려면 반경을 6.9km까지 넓혀야 하고, 그러면 평년에는 AquaLimit이 860만 달러, 20% 쌉니다. 습한 해에는 29%입니다. 반경을 그해 날씨를 미리 알고 가장 유리하게 골라도 AquaLimit이 5~10% 쌉니다. 빠른 선형 계산으로 푼 계획은 물리모델로 돌려 보면 기준을 지킬 확률이 60%까지 떨어져서, 물리모델로 확인하고 고쳐 다시 푸는 과정을 3~4번 거쳐 100%로 맞춘 뒤 내보냅니다. 위 숫자는 모두 그 결과입니다.</a:t>
            </a:r>
          </a:p>
          <a:p>
            <a:r>
              <a:rPr lang="ko-KR" dirty="0"/>
              <a:t>(예상 질문) 지금 금지보다 비싸지 않나? → 평년 기준 지금 4km 금지는 2,320만 달러, AquaLimit은 3,480만 달러입니다. 하지만 지금 금지로는 기준을 못 지킵니다. 기준을 지키려면 어차피 더 줄여야 하고, 그중 가장 싼 방법이 AquaLimit입니다.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계획은 빠른 선형 계산으로 풉니다. 그런데 그 계획을 물리모델로 직접 돌려 보니, 평년에 모든 지점에서 기준을 지킬 확률이 60%뿐이었습니다. 취수를 늘려서 잰 응답을, 줄이는 쪽에 쓰면서 생기는 차이입니다. 처음엔 차이를 더해 고쳤는데 4번 해도 93%에서 멈췄고, 비율로 고치는 방식으로 바꾸니 3번 만에 100%가 됐습니다. 금지 반경도 물리모델로 직접 찾으니 가뭄에 필요한 반경이 6km가 아니라 6.9km였습니다. 같은 신뢰도로 맞춘 뒤에도 AquaLimit이 평년 20% 쌌습니다.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계획을 세우려면 땅속 상태 1,000가지마다 물리모델을 돌려야 해서 11시간이 걸립니다. 그래서 물리모델 결과를 학습한 AI를 만들었습니다. 우물 위치를 입력으로 받기 때문에 우물이 바뀌어도 다시 학습하지 않습니다. 지도에서 아무 농경지 칸이나 고르면 1초 안에 계산이 끝납니다. 학습에 쓰지 않은 위치와 땅속 상태로 테스트하면 R² 0.92이고, AI로 고른 계획은 마지막에 물리모델로 다시 확인해 기준 초과 0%였습니다.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고객은 개별 농가가 아니라 지역 지하수 관리기관입니다. 이들은 6개월마다 금지 연장 여부를 정해야 하고, 지금 금지로 충분한지, 가장 싼 보완책이 무엇인지, 금지가 지켜지는지를 알아야 합니다. 상품은 지역 모델 구축과 연간 운영 구독입니다. 가격은 아직 검증하지 않은 가설이지만, 관개기 한 번에 모델 비교상 수백만 달러 차이가 나는 문제라 가격 여유는 충분합니다. 위성 관측 회사는 경쟁자가 아니라 자료를 공급하는 파트너입니다.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미국에서 NASA 위성으로 검증한 엔진을, 올해 7월 발사한 농림위성과 2027년 수자원위성으로 입력만 바꿔 국내에 적용합니다. 국내에는 이미 우주항공청과 NIA가 위성 지반변위 위험 지도 공모를 냈고 14개 컨소시엄이 경쟁했습니다. AquaLimit은 그 지도를 어느 관정을 얼마나 줄일지로 바꾸는 다음 단계입니다. 시범은 도심 굴착공사 배수 계획과 제주 취수 배분 두 곳을 제안합니다.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0E1A2B"/>
                </a:solidFill>
                <a:latin typeface="IBM Plex Sans KR" pitchFamily="34" charset="0"/>
                <a:ea typeface="IBM Plex Sans KR" pitchFamily="34" charset="-122"/>
                <a:cs typeface="IBM Plex Sans KR"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72270"/>
            <a:ext cx="10566400" cy="4072930"/>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IBM Plex Sans KR" pitchFamily="34" charset="0"/>
                <a:ea typeface="IBM Plex Sans KR" pitchFamily="34" charset="-122"/>
                <a:cs typeface="IBM Plex Sans K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0E1A2B"/>
                </a:solidFill>
                <a:latin typeface="IBM Plex Sans KR" pitchFamily="34" charset="0"/>
                <a:ea typeface="IBM Plex Sans KR" pitchFamily="34" charset="-122"/>
                <a:cs typeface="IBM Plex Sans KR"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72270"/>
            <a:ext cx="10566400" cy="4072930"/>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IBM Plex Sans KR" pitchFamily="34" charset="0"/>
                <a:ea typeface="IBM Plex Sans KR" pitchFamily="34" charset="-122"/>
                <a:cs typeface="IBM Plex Sans K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2213620"/>
            <a:ext cx="10883392" cy="977900"/>
          </a:xfrm>
          <a:prstGeom prst="rect">
            <a:avLst/>
          </a:prstGeom>
          <a:noFill/>
          <a:ln/>
        </p:spPr>
        <p:txBody>
          <a:bodyPr wrap="square" lIns="0" tIns="0" rIns="0" bIns="0" rtlCol="0" anchor="t">
            <a:normAutofit/>
          </a:bodyPr>
          <a:lstStyle/>
          <a:p>
            <a:pPr marL="0" indent="0" algn="l">
              <a:lnSpc>
                <a:spcPts val="7500"/>
              </a:lnSpc>
              <a:buNone/>
            </a:pPr>
            <a:r>
              <a:rPr lang="en-US" sz="7500" b="1" i="0" kern="0" spc="-100" dirty="0">
                <a:solidFill>
                  <a:srgbClr val="F4F2EC"/>
                </a:solidFill>
                <a:latin typeface="IBM Plex Sans KR" pitchFamily="34" charset="0"/>
                <a:ea typeface="IBM Plex Sans KR" pitchFamily="34" charset="-122"/>
                <a:cs typeface="IBM Plex Sans KR" pitchFamily="34" charset="-120"/>
              </a:rPr>
              <a:t>AquaLimit</a:t>
            </a:r>
            <a:endParaRPr lang="en-US" sz="7500" dirty="0"/>
          </a:p>
        </p:txBody>
      </p:sp>
      <p:sp>
        <p:nvSpPr>
          <p:cNvPr id="4" name="Text 2"/>
          <p:cNvSpPr/>
          <p:nvPr/>
        </p:nvSpPr>
        <p:spPr>
          <a:xfrm>
            <a:off x="812800" y="3369320"/>
            <a:ext cx="9810750" cy="469900"/>
          </a:xfrm>
          <a:prstGeom prst="rect">
            <a:avLst/>
          </a:prstGeom>
          <a:noFill/>
          <a:ln/>
        </p:spPr>
        <p:txBody>
          <a:bodyPr wrap="square" lIns="0" tIns="0" rIns="0" bIns="0" rtlCol="0" anchor="t">
            <a:normAutofit/>
          </a:bodyPr>
          <a:lstStyle/>
          <a:p>
            <a:pPr marL="0" indent="0" algn="l">
              <a:lnSpc>
                <a:spcPts val="3500"/>
              </a:lnSpc>
              <a:buNone/>
            </a:pPr>
            <a:r>
              <a:rPr lang="en-US" sz="2800" dirty="0">
                <a:solidFill>
                  <a:srgbClr val="F4F2EC"/>
                </a:solidFill>
                <a:latin typeface="IBM Plex Sans KR" pitchFamily="34" charset="0"/>
                <a:ea typeface="IBM Plex Sans KR" pitchFamily="34" charset="-122"/>
                <a:cs typeface="IBM Plex Sans KR" pitchFamily="34" charset="-120"/>
              </a:rPr>
              <a:t>위성으로 지하수 취수를 처방한다</a:t>
            </a:r>
            <a:endParaRPr lang="en-US" sz="2800" dirty="0"/>
          </a:p>
        </p:txBody>
      </p:sp>
      <p:sp>
        <p:nvSpPr>
          <p:cNvPr id="5" name="Text 3"/>
          <p:cNvSpPr/>
          <p:nvPr/>
        </p:nvSpPr>
        <p:spPr>
          <a:xfrm>
            <a:off x="812800" y="4017020"/>
            <a:ext cx="9156700"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C9D3E0"/>
                </a:solidFill>
                <a:latin typeface="IBM Plex Sans KR" pitchFamily="34" charset="0"/>
                <a:ea typeface="IBM Plex Sans KR" pitchFamily="34" charset="-122"/>
                <a:cs typeface="IBM Plex Sans KR" pitchFamily="34" charset="-120"/>
              </a:rPr>
              <a:t>지반침하 기준을 지키면서 필요한 물을 가장 싸게 얻으려면, 어느 우물을 언제 얼마나 줄여야 하는가. 그리고 정한 취수 제한이 실제로 지켜지는가.</a:t>
            </a:r>
            <a:endParaRPr lang="en-US" sz="1600" dirty="0"/>
          </a:p>
        </p:txBody>
      </p:sp>
      <p:sp>
        <p:nvSpPr>
          <p:cNvPr id="6" name="Text 4"/>
          <p:cNvSpPr/>
          <p:nvPr/>
        </p:nvSpPr>
        <p:spPr>
          <a:xfrm>
            <a:off x="812800" y="5413248"/>
            <a:ext cx="373171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A35E"/>
                </a:solidFill>
                <a:latin typeface="IBM Plex Sans KR" pitchFamily="34" charset="0"/>
                <a:ea typeface="IBM Plex Sans KR" pitchFamily="34" charset="-122"/>
                <a:cs typeface="IBM Plex Sans KR" pitchFamily="34" charset="-120"/>
              </a:rPr>
              <a:t>실증: 미국 California Aqueduct MP 195~215</a:t>
            </a:r>
            <a:endParaRPr lang="en-US" sz="1400" dirty="0"/>
          </a:p>
        </p:txBody>
      </p:sp>
      <p:sp>
        <p:nvSpPr>
          <p:cNvPr id="7" name="Text 5"/>
          <p:cNvSpPr/>
          <p:nvPr/>
        </p:nvSpPr>
        <p:spPr>
          <a:xfrm>
            <a:off x="4544516" y="5413248"/>
            <a:ext cx="41541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0"/>
                </a:solidFill>
                <a:latin typeface="IBM Plex Sans KR" pitchFamily="34" charset="0"/>
                <a:ea typeface="IBM Plex Sans KR" pitchFamily="34" charset="-122"/>
                <a:cs typeface="IBM Plex Sans KR" pitchFamily="34" charset="-120"/>
              </a:rPr>
              <a:t>NASA OPERA · Landsat · GPS · MODFLOW 6</a:t>
            </a:r>
            <a:endParaRPr lang="en-US" sz="1400" dirty="0"/>
          </a:p>
        </p:txBody>
      </p:sp>
      <p:sp>
        <p:nvSpPr>
          <p:cNvPr id="8" name="Korea label"/>
          <p:cNvSpPr/>
          <p:nvPr/>
        </p:nvSpPr>
        <p:spPr>
          <a:xfrm>
            <a:off x="813816" y="5779008"/>
            <a:ext cx="96012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A35E"/>
                </a:solidFill>
                <a:latin typeface="IBM Plex Sans KR" pitchFamily="34" charset="0"/>
                <a:ea typeface="IBM Plex Sans KR" pitchFamily="34" charset="-122"/>
                <a:cs typeface="IBM Plex Sans KR" pitchFamily="34" charset="-120"/>
              </a:rPr>
              <a:t>국내 적용:</a:t>
            </a:r>
            <a:endParaRPr lang="en-US" sz="1400" dirty="0"/>
          </a:p>
        </p:txBody>
      </p:sp>
      <p:sp>
        <p:nvSpPr>
          <p:cNvPr id="9" name="Korea sats"/>
          <p:cNvSpPr/>
          <p:nvPr/>
        </p:nvSpPr>
        <p:spPr>
          <a:xfrm>
            <a:off x="1801368" y="5779008"/>
            <a:ext cx="68580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0"/>
                </a:solidFill>
                <a:latin typeface="IBM Plex Sans KR" pitchFamily="34" charset="0"/>
                <a:ea typeface="IBM Plex Sans KR" pitchFamily="34" charset="-122"/>
                <a:cs typeface="IBM Plex Sans KR" pitchFamily="34" charset="-120"/>
              </a:rPr>
              <a:t>농림위성(2026.7 발사) · 수자원위성(2027 발사 목표)</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2주간 한 일 · 10/13~10/27</a:t>
            </a:r>
            <a:endParaRPr lang="en-US" sz="1200" dirty="0"/>
          </a:p>
        </p:txBody>
      </p:sp>
      <p:sp>
        <p:nvSpPr>
          <p:cNvPr id="3" name="Text 1"/>
          <p:cNvSpPr>
            <a:spLocks noGrp="1"/>
          </p:cNvSpPr>
          <p:nvPr>
            <p:ph type="title"/>
          </p:nvPr>
        </p:nvSpPr>
        <p:spPr>
          <a:xfrm>
            <a:off x="812800" y="12547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2주 동안 실제 자료로 검증하고, 정책 비교까지 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1874520"/>
          <a:ext cx="10570464" cy="3383280"/>
        </p:xfrm>
        <a:graphic>
          <a:graphicData uri="http://schemas.openxmlformats.org/drawingml/2006/table">
            <a:tbl>
              <a:tblPr/>
              <a:tblGrid>
                <a:gridCol w="461772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877824">
                  <a:extLst>
                    <a:ext uri="{9D8B030D-6E8A-4147-A177-3AD203B41FA5}">
                      <a16:colId xmlns:a16="http://schemas.microsoft.com/office/drawing/2014/main" val="20002"/>
                    </a:ext>
                  </a:extLst>
                </a:gridCol>
              </a:tblGrid>
              <a:tr h="338328">
                <a:tc>
                  <a:txBody>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2주 동안 새로 한 것</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결과</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ct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모델 개선: 늦게 눌리는 점토 · 과거 취수 이력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GPS 오차 25.2 → 21.2mm, 불확실성 범위 폭 265 → 97mm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6</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기온 · 수로 물 배분율을 모델에 넣기</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하나씩 빼면 오차가 2.3~3.5mm 나빠짐</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7</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취수가 실제로 바뀐 사건으로 모델 테스트</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비 많던 해 침하 감속: 모델 −9.0, GPS −9.3mm/년</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위성 자료 교체: DWR → NASA OPERA</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GPS와 침하 방향 일치 3/5 → 5/5</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위성 이행 점검 (모델 없이 관측만)</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금지 후 금지구역 안이 밖보다 연 2.9mm 덜 좋아짐</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실제 신고 우물 56개 · 실제 기준값으로 정책 비교</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4km 금지만으로는 평년 45% 지점만 기준 안</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6"/>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금지 반경 확대와 같은 신뢰도로 비교 (물리모델 확인)</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AquaLimit이 평년 20% 저렴</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15~16</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7"/>
                  </a:ext>
                </a:extLst>
              </a:tr>
              <a:tr h="338328">
                <a:tc>
                  <a:txBody>
                    <a:bodyPr/>
                    <a:lstStyle/>
                    <a:p>
                      <a:pPr marL="0" indent="0" algn="l">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우물 위치를 입력으로 받는 AI</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11시간 → 1초, 우물이 바뀌어도 재학습 없음</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17</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8"/>
                  </a:ext>
                </a:extLst>
              </a:tr>
              <a:tr h="338328">
                <a:tc>
                  <a:txBody>
                    <a:bodyPr/>
                    <a:lstStyle/>
                    <a:p>
                      <a:pPr marL="0" indent="0" algn="l">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아직 못 한 것: 3년 누적 예측</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l">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과거 추세 연장(7.2mm)이 아직 더 정확(21.2mm)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ct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11</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장 번호는 이 발표 기준 · 실험 4~11은 본문(5~16장), 실험 1~3·7은 부록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문제</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수로 주변 취수를 금지했는데, 침하가 줄지 않았다</a:t>
            </a:r>
            <a:endParaRPr lang="en-US" sz="3000" dirty="0"/>
          </a:p>
        </p:txBody>
      </p:sp>
      <p:sp>
        <p:nvSpPr>
          <p:cNvPr id="4" name="Shape 2"/>
          <p:cNvSpPr/>
          <p:nvPr/>
        </p:nvSpPr>
        <p:spPr>
          <a:xfrm>
            <a:off x="812800" y="1972270"/>
            <a:ext cx="3937000" cy="2906613"/>
          </a:xfrm>
          <a:prstGeom prst="roundRect">
            <a:avLst>
              <a:gd name="adj" fmla="val 3495"/>
            </a:avLst>
          </a:prstGeom>
          <a:solidFill>
            <a:srgbClr val="0E1A2B"/>
          </a:solidFill>
          <a:ln/>
        </p:spPr>
        <p:txBody>
          <a:bodyPr/>
          <a:lstStyle/>
          <a:p>
            <a:endParaRPr lang="ko-KR" altLang="en-US"/>
          </a:p>
        </p:txBody>
      </p:sp>
      <p:sp>
        <p:nvSpPr>
          <p:cNvPr id="5" name="Text 3"/>
          <p:cNvSpPr/>
          <p:nvPr/>
        </p:nvSpPr>
        <p:spPr>
          <a:xfrm>
            <a:off x="1066800" y="2226270"/>
            <a:ext cx="35318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4F5"/>
                </a:solidFill>
                <a:latin typeface="IBM Plex Sans KR" pitchFamily="34" charset="0"/>
                <a:ea typeface="IBM Plex Sans KR" pitchFamily="34" charset="-122"/>
                <a:cs typeface="IBM Plex Sans KR" pitchFamily="34" charset="-120"/>
              </a:rPr>
              <a:t>실제 정책 (WDWA 지하수 관리기관)</a:t>
            </a:r>
            <a:endParaRPr lang="en-US" sz="1200" dirty="0"/>
          </a:p>
        </p:txBody>
      </p:sp>
      <p:sp>
        <p:nvSpPr>
          <p:cNvPr id="6" name="Text 4"/>
          <p:cNvSpPr/>
          <p:nvPr/>
        </p:nvSpPr>
        <p:spPr>
          <a:xfrm>
            <a:off x="1066800" y="2566591"/>
            <a:ext cx="3531870" cy="57398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4F2EC"/>
                </a:solidFill>
                <a:latin typeface="IBM Plex Sans KR" pitchFamily="34" charset="0"/>
                <a:ea typeface="IBM Plex Sans KR" pitchFamily="34" charset="-122"/>
                <a:cs typeface="IBM Plex Sans KR" pitchFamily="34" charset="-120"/>
              </a:rPr>
              <a:t>2024.12.9부터 수로 양쪽 2.5마일(4km) 안 지하수 취수 전면 금지</a:t>
            </a:r>
            <a:endParaRPr lang="en-US" sz="1600" dirty="0"/>
          </a:p>
        </p:txBody>
      </p:sp>
      <p:sp>
        <p:nvSpPr>
          <p:cNvPr id="7" name="Text 5"/>
          <p:cNvSpPr/>
          <p:nvPr/>
        </p:nvSpPr>
        <p:spPr>
          <a:xfrm>
            <a:off x="1066800" y="3242171"/>
            <a:ext cx="3531870" cy="26476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D3E0"/>
                </a:solidFill>
                <a:latin typeface="IBM Plex Sans KR" pitchFamily="34" charset="0"/>
                <a:ea typeface="IBM Plex Sans KR" pitchFamily="34" charset="-122"/>
                <a:cs typeface="IBM Plex Sans KR" pitchFamily="34" charset="-120"/>
              </a:rPr>
              <a:t>위반 시 $1,000 + 1AF당 $500</a:t>
            </a:r>
            <a:endParaRPr lang="en-US" sz="1300" dirty="0"/>
          </a:p>
        </p:txBody>
      </p:sp>
      <p:sp>
        <p:nvSpPr>
          <p:cNvPr id="8" name="Text 6"/>
          <p:cNvSpPr/>
          <p:nvPr/>
        </p:nvSpPr>
        <p:spPr>
          <a:xfrm>
            <a:off x="1066800" y="3608536"/>
            <a:ext cx="3531870" cy="26476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D3E0"/>
                </a:solidFill>
                <a:latin typeface="IBM Plex Sans KR" pitchFamily="34" charset="0"/>
                <a:ea typeface="IBM Plex Sans KR" pitchFamily="34" charset="-122"/>
                <a:cs typeface="IBM Plex Sans KR" pitchFamily="34" charset="-120"/>
              </a:rPr>
              <a:t>6개월마다 연장 결정, 최근 2026.5.14 재연장</a:t>
            </a:r>
            <a:endParaRPr lang="en-US" sz="1300" dirty="0"/>
          </a:p>
        </p:txBody>
      </p:sp>
      <p:sp>
        <p:nvSpPr>
          <p:cNvPr id="9" name="Text 7"/>
          <p:cNvSpPr/>
          <p:nvPr/>
        </p:nvSpPr>
        <p:spPr>
          <a:xfrm>
            <a:off x="1066800" y="3974902"/>
            <a:ext cx="3531870"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0A35E"/>
                </a:solidFill>
                <a:latin typeface="IBM Plex Sans KR" pitchFamily="34" charset="0"/>
                <a:ea typeface="IBM Plex Sans KR" pitchFamily="34" charset="-122"/>
                <a:cs typeface="IBM Plex Sans KR" pitchFamily="34" charset="-120"/>
              </a:rPr>
              <a:t>관리기관·주정부 검토: “침하를 원인별로 나누지 못한다”</a:t>
            </a:r>
            <a:endParaRPr lang="en-US" sz="1300" dirty="0"/>
          </a:p>
        </p:txBody>
      </p:sp>
      <p:sp>
        <p:nvSpPr>
          <p:cNvPr id="10" name="Text 8"/>
          <p:cNvSpPr/>
          <p:nvPr/>
        </p:nvSpPr>
        <p:spPr>
          <a:xfrm>
            <a:off x="5054600" y="1972270"/>
            <a:ext cx="651433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수로 GPS 침하 속도 (mm/년, 같은 달 → 같은 달 1년)</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67300" y="2343100"/>
          <a:ext cx="6311900" cy="1930055"/>
        </p:xfrm>
        <a:graphic>
          <a:graphicData uri="http://schemas.openxmlformats.org/drawingml/2006/table">
            <a:tbl>
              <a:tblPr/>
              <a:tblGrid>
                <a:gridCol w="1388618">
                  <a:extLst>
                    <a:ext uri="{9D8B030D-6E8A-4147-A177-3AD203B41FA5}">
                      <a16:colId xmlns:a16="http://schemas.microsoft.com/office/drawing/2014/main" val="20000"/>
                    </a:ext>
                  </a:extLst>
                </a:gridCol>
                <a:gridCol w="1641094">
                  <a:extLst>
                    <a:ext uri="{9D8B030D-6E8A-4147-A177-3AD203B41FA5}">
                      <a16:colId xmlns:a16="http://schemas.microsoft.com/office/drawing/2014/main" val="20001"/>
                    </a:ext>
                  </a:extLst>
                </a:gridCol>
                <a:gridCol w="1641094">
                  <a:extLst>
                    <a:ext uri="{9D8B030D-6E8A-4147-A177-3AD203B41FA5}">
                      <a16:colId xmlns:a16="http://schemas.microsoft.com/office/drawing/2014/main" val="20002"/>
                    </a:ext>
                  </a:extLst>
                </a:gridCol>
                <a:gridCol w="1641094">
                  <a:extLst>
                    <a:ext uri="{9D8B030D-6E8A-4147-A177-3AD203B41FA5}">
                      <a16:colId xmlns:a16="http://schemas.microsoft.com/office/drawing/2014/main" val="20003"/>
                    </a:ext>
                  </a:extLst>
                </a:gridCol>
              </a:tblGrid>
              <a:tr h="386011">
                <a:tc>
                  <a:txBody>
                    <a:bodyPr/>
                    <a:lstStyle/>
                    <a:p>
                      <a:pPr marL="0" indent="0">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GPS</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금지 전 1년</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금지 후 1년</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최근 1년</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P544 북쪽</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5.2</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6.8</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8.8</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Q204 남쪽</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15.4</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15.9</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C2571A"/>
                          </a:solidFill>
                          <a:latin typeface="IBM Plex Sans KR" pitchFamily="34" charset="0"/>
                          <a:ea typeface="IBM Plex Sans KR" pitchFamily="34" charset="-122"/>
                          <a:cs typeface="IBM Plex Sans KR" pitchFamily="34" charset="-120"/>
                        </a:rPr>
                        <a:t>18.8 초과</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Q208 남쪽</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20.9</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21.9</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C2571A"/>
                          </a:solidFill>
                          <a:latin typeface="IBM Plex Sans KR" pitchFamily="34" charset="0"/>
                          <a:ea typeface="IBM Plex Sans KR" pitchFamily="34" charset="-122"/>
                          <a:cs typeface="IBM Plex Sans KR" pitchFamily="34" charset="-120"/>
                        </a:rPr>
                        <a:t>23.2 초과</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Q213 남쪽</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C2571A"/>
                          </a:solidFill>
                          <a:latin typeface="IBM Plex Sans KR" pitchFamily="34" charset="0"/>
                          <a:ea typeface="IBM Plex Sans KR" pitchFamily="34" charset="-122"/>
                          <a:cs typeface="IBM Plex Sans KR" pitchFamily="34" charset="-120"/>
                        </a:rPr>
                        <a:t>12.2 근접</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Text 9"/>
          <p:cNvSpPr/>
          <p:nvPr/>
        </p:nvSpPr>
        <p:spPr>
          <a:xfrm>
            <a:off x="5054600" y="4400153"/>
            <a:ext cx="6514338"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C4656"/>
                </a:solidFill>
                <a:latin typeface="IBM Plex Sans KR" pitchFamily="34" charset="0"/>
                <a:ea typeface="IBM Plex Sans KR" pitchFamily="34" charset="-122"/>
                <a:cs typeface="IBM Plex Sans KR" pitchFamily="34" charset="-120"/>
              </a:rPr>
              <a:t>금지 후 1년은 수로 물 배분율이 오히려 더 높았다(40% → 50%). 그런데도 속도가 그대로다. 기준: 연 0.5인치(12.7mm), 이웃 관리기관의 같은 수로 기준.</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GPS: Nevada Geodetic Laboratory · 금지 전 2023.11→2024.11, 금지 후 2024.11→2025.11, 최근 2025.3→2026.3 · 아래로 +</a:t>
            </a:r>
            <a:endParaRPr lang="en-US" sz="1200" dirty="0"/>
          </a:p>
        </p:txBody>
      </p:sp>
      <p:sp>
        <p:nvSpPr>
          <p:cNvPr id="14" name="Why label"/>
          <p:cNvSpPr/>
          <p:nvPr/>
        </p:nvSpPr>
        <p:spPr>
          <a:xfrm>
            <a:off x="813816" y="5084064"/>
            <a:ext cx="3657600" cy="25603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B7480"/>
                </a:solidFill>
                <a:latin typeface="IBM Plex Sans KR" pitchFamily="34" charset="0"/>
                <a:ea typeface="IBM Plex Sans KR" pitchFamily="34" charset="-122"/>
                <a:cs typeface="IBM Plex Sans KR" pitchFamily="34" charset="-120"/>
              </a:rPr>
              <a:t>왜 중요한가</a:t>
            </a:r>
            <a:endParaRPr lang="en-US" sz="1300" dirty="0"/>
          </a:p>
        </p:txBody>
      </p:sp>
      <p:sp>
        <p:nvSpPr>
          <p:cNvPr id="15" name="Why big 0"/>
          <p:cNvSpPr/>
          <p:nvPr/>
        </p:nvSpPr>
        <p:spPr>
          <a:xfrm>
            <a:off x="813816" y="5376672"/>
            <a:ext cx="1051560" cy="438912"/>
          </a:xfrm>
          <a:prstGeom prst="rect">
            <a:avLst/>
          </a:prstGeom>
          <a:noFill/>
          <a:ln/>
        </p:spPr>
        <p:txBody>
          <a:bodyPr wrap="square" lIns="0" tIns="0" rIns="0" bIns="0" rtlCol="0" anchor="t">
            <a:normAutofit/>
          </a:bodyPr>
          <a:lstStyle/>
          <a:p>
            <a:pPr marL="0" indent="0" algn="l">
              <a:lnSpc>
                <a:spcPts val="3400"/>
              </a:lnSpc>
              <a:buNone/>
            </a:pPr>
            <a:r>
              <a:rPr lang="en-US" sz="2600" b="1" dirty="0">
                <a:solidFill>
                  <a:srgbClr val="C2571A"/>
                </a:solidFill>
                <a:latin typeface="IBM Plex Sans KR" pitchFamily="34" charset="0"/>
                <a:ea typeface="IBM Plex Sans KR" pitchFamily="34" charset="-122"/>
                <a:cs typeface="IBM Plex Sans KR" pitchFamily="34" charset="-120"/>
              </a:rPr>
              <a:t>44%</a:t>
            </a:r>
            <a:endParaRPr lang="en-US" sz="1300" dirty="0"/>
          </a:p>
        </p:txBody>
      </p:sp>
      <p:sp>
        <p:nvSpPr>
          <p:cNvPr id="16" name="Why desc 0"/>
          <p:cNvSpPr/>
          <p:nvPr/>
        </p:nvSpPr>
        <p:spPr>
          <a:xfrm>
            <a:off x="1920240" y="5413248"/>
            <a:ext cx="3063240" cy="51206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2023년 침하로 줄어든 California Aqueduct 수송 능력 (DWR)</a:t>
            </a:r>
            <a:endParaRPr lang="en-US" sz="1300" dirty="0"/>
          </a:p>
        </p:txBody>
      </p:sp>
      <p:sp>
        <p:nvSpPr>
          <p:cNvPr id="17" name="Why big 1"/>
          <p:cNvSpPr/>
          <p:nvPr/>
        </p:nvSpPr>
        <p:spPr>
          <a:xfrm>
            <a:off x="5257800" y="5376672"/>
            <a:ext cx="1463040" cy="438912"/>
          </a:xfrm>
          <a:prstGeom prst="rect">
            <a:avLst/>
          </a:prstGeom>
          <a:noFill/>
          <a:ln/>
        </p:spPr>
        <p:txBody>
          <a:bodyPr wrap="square" lIns="0" tIns="0" rIns="0" bIns="0" rtlCol="0" anchor="t">
            <a:normAutofit/>
          </a:bodyPr>
          <a:lstStyle/>
          <a:p>
            <a:pPr marL="0" indent="0" algn="l">
              <a:lnSpc>
                <a:spcPts val="3400"/>
              </a:lnSpc>
              <a:buNone/>
            </a:pPr>
            <a:r>
              <a:rPr lang="en-US" sz="2600" b="1" dirty="0">
                <a:solidFill>
                  <a:srgbClr val="C2571A"/>
                </a:solidFill>
                <a:latin typeface="IBM Plex Sans KR" pitchFamily="34" charset="0"/>
                <a:ea typeface="IBM Plex Sans KR" pitchFamily="34" charset="-122"/>
                <a:cs typeface="IBM Plex Sans KR" pitchFamily="34" charset="-120"/>
              </a:rPr>
              <a:t>$38.7억</a:t>
            </a:r>
            <a:endParaRPr lang="en-US" sz="1300" dirty="0"/>
          </a:p>
        </p:txBody>
      </p:sp>
      <p:sp>
        <p:nvSpPr>
          <p:cNvPr id="18" name="Why desc 1"/>
          <p:cNvSpPr/>
          <p:nvPr/>
        </p:nvSpPr>
        <p:spPr>
          <a:xfrm>
            <a:off x="6784848" y="5413248"/>
            <a:ext cx="4572000" cy="51206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주정부 수로 침하 장기 보수비 추정 (DWR, 2024년 달러)</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AquaLimit이 하는 일</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위성이 잰 침하로, 어느 우물을 얼마나 줄일지 계산한다</a:t>
            </a:r>
            <a:endParaRPr lang="en-US" sz="3000" dirty="0"/>
          </a:p>
        </p:txBody>
      </p:sp>
      <p:sp>
        <p:nvSpPr>
          <p:cNvPr id="29" name="Step card 0"/>
          <p:cNvSpPr/>
          <p:nvPr/>
        </p:nvSpPr>
        <p:spPr>
          <a:xfrm>
            <a:off x="813816" y="1975104"/>
            <a:ext cx="3200400" cy="1755648"/>
          </a:xfrm>
          <a:prstGeom prst="roundRect">
            <a:avLst>
              <a:gd name="adj" fmla="val 7402"/>
            </a:avLst>
          </a:prstGeom>
          <a:solidFill>
            <a:srgbClr val="FBFAF6"/>
          </a:solidFill>
          <a:ln w="6350">
            <a:solidFill>
              <a:srgbClr val="DAD6CB"/>
            </a:solidFill>
            <a:prstDash val="solid"/>
          </a:ln>
        </p:spPr>
        <p:txBody>
          <a:bodyPr/>
          <a:lstStyle/>
          <a:p>
            <a:endParaRPr lang="ko-KR" altLang="en-US"/>
          </a:p>
        </p:txBody>
      </p:sp>
      <p:sp>
        <p:nvSpPr>
          <p:cNvPr id="30" name="Step label 0"/>
          <p:cNvSpPr/>
          <p:nvPr/>
        </p:nvSpPr>
        <p:spPr>
          <a:xfrm>
            <a:off x="1014984" y="2157984"/>
            <a:ext cx="283464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1단계 · 관측</a:t>
            </a:r>
            <a:endParaRPr lang="en-US" sz="1200" dirty="0"/>
          </a:p>
        </p:txBody>
      </p:sp>
      <p:sp>
        <p:nvSpPr>
          <p:cNvPr id="31" name="Step big 0"/>
          <p:cNvSpPr/>
          <p:nvPr/>
        </p:nvSpPr>
        <p:spPr>
          <a:xfrm>
            <a:off x="1014984" y="2432304"/>
            <a:ext cx="2834640" cy="34747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E1A2B"/>
                </a:solidFill>
                <a:latin typeface="IBM Plex Sans KR" pitchFamily="34" charset="0"/>
                <a:ea typeface="IBM Plex Sans KR" pitchFamily="34" charset="-122"/>
                <a:cs typeface="IBM Plex Sans KR" pitchFamily="34" charset="-120"/>
              </a:rPr>
              <a:t>위성이 땅 높이를 잰다</a:t>
            </a:r>
            <a:endParaRPr lang="en-US" sz="1800" dirty="0"/>
          </a:p>
        </p:txBody>
      </p:sp>
      <p:sp>
        <p:nvSpPr>
          <p:cNvPr id="32" name="Step body 0"/>
          <p:cNvSpPr/>
          <p:nvPr/>
        </p:nvSpPr>
        <p:spPr>
          <a:xfrm>
            <a:off x="1014984" y="2834640"/>
            <a:ext cx="2834640" cy="7315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NASA OPERA로 매달 mm 단위 침하를 본다. 날씨·밭 녹색도·신고 우물도 함께 넣는다</a:t>
            </a:r>
            <a:endParaRPr lang="en-US" sz="1300" dirty="0"/>
          </a:p>
        </p:txBody>
      </p:sp>
      <p:sp>
        <p:nvSpPr>
          <p:cNvPr id="33" name="Step card 1"/>
          <p:cNvSpPr/>
          <p:nvPr/>
        </p:nvSpPr>
        <p:spPr>
          <a:xfrm>
            <a:off x="4498848" y="1975104"/>
            <a:ext cx="3200400" cy="1755648"/>
          </a:xfrm>
          <a:prstGeom prst="roundRect">
            <a:avLst>
              <a:gd name="adj" fmla="val 7402"/>
            </a:avLst>
          </a:prstGeom>
          <a:solidFill>
            <a:srgbClr val="FBFAF6"/>
          </a:solidFill>
          <a:ln w="6350">
            <a:solidFill>
              <a:srgbClr val="DAD6CB"/>
            </a:solidFill>
            <a:prstDash val="solid"/>
          </a:ln>
        </p:spPr>
        <p:txBody>
          <a:bodyPr/>
          <a:lstStyle/>
          <a:p>
            <a:endParaRPr lang="ko-KR" altLang="en-US"/>
          </a:p>
        </p:txBody>
      </p:sp>
      <p:sp>
        <p:nvSpPr>
          <p:cNvPr id="34" name="Step label 1"/>
          <p:cNvSpPr/>
          <p:nvPr/>
        </p:nvSpPr>
        <p:spPr>
          <a:xfrm>
            <a:off x="4700016" y="2157984"/>
            <a:ext cx="283464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2단계 · 보정</a:t>
            </a:r>
            <a:endParaRPr lang="en-US" sz="1200" dirty="0"/>
          </a:p>
        </p:txBody>
      </p:sp>
      <p:sp>
        <p:nvSpPr>
          <p:cNvPr id="35" name="Step big 1"/>
          <p:cNvSpPr/>
          <p:nvPr/>
        </p:nvSpPr>
        <p:spPr>
          <a:xfrm>
            <a:off x="4700016" y="2432304"/>
            <a:ext cx="2834640" cy="34747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E1A2B"/>
                </a:solidFill>
                <a:latin typeface="IBM Plex Sans KR" pitchFamily="34" charset="0"/>
                <a:ea typeface="IBM Plex Sans KR" pitchFamily="34" charset="-122"/>
                <a:cs typeface="IBM Plex Sans KR" pitchFamily="34" charset="-120"/>
              </a:rPr>
              <a:t>땅속 모델을 맞춘다</a:t>
            </a:r>
            <a:endParaRPr lang="en-US" sz="1800" dirty="0"/>
          </a:p>
        </p:txBody>
      </p:sp>
      <p:sp>
        <p:nvSpPr>
          <p:cNvPr id="36" name="Step body 1"/>
          <p:cNvSpPr/>
          <p:nvPr/>
        </p:nvSpPr>
        <p:spPr>
          <a:xfrm>
            <a:off x="4700016" y="2834640"/>
            <a:ext cx="2834640" cy="7315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땅속 시뮬레이터(MODFLOW)가 위성 침하를 재현하도록 점토 성질을 거꾸로 찾는다</a:t>
            </a:r>
            <a:endParaRPr lang="en-US" sz="1300" dirty="0"/>
          </a:p>
        </p:txBody>
      </p:sp>
      <p:sp>
        <p:nvSpPr>
          <p:cNvPr id="37" name="Step card 2"/>
          <p:cNvSpPr/>
          <p:nvPr/>
        </p:nvSpPr>
        <p:spPr>
          <a:xfrm>
            <a:off x="8183880" y="1975104"/>
            <a:ext cx="3200400" cy="1755648"/>
          </a:xfrm>
          <a:prstGeom prst="roundRect">
            <a:avLst>
              <a:gd name="adj" fmla="val 7402"/>
            </a:avLst>
          </a:prstGeom>
          <a:solidFill>
            <a:srgbClr val="FBFAF6"/>
          </a:solidFill>
          <a:ln w="6350">
            <a:solidFill>
              <a:srgbClr val="DAD6CB"/>
            </a:solidFill>
            <a:prstDash val="solid"/>
          </a:ln>
        </p:spPr>
        <p:txBody>
          <a:bodyPr/>
          <a:lstStyle/>
          <a:p>
            <a:endParaRPr lang="ko-KR" altLang="en-US"/>
          </a:p>
        </p:txBody>
      </p:sp>
      <p:sp>
        <p:nvSpPr>
          <p:cNvPr id="38" name="Step label 2"/>
          <p:cNvSpPr/>
          <p:nvPr/>
        </p:nvSpPr>
        <p:spPr>
          <a:xfrm>
            <a:off x="8385048" y="2157984"/>
            <a:ext cx="283464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3단계 · 처방</a:t>
            </a:r>
            <a:endParaRPr lang="en-US" sz="1200" dirty="0"/>
          </a:p>
        </p:txBody>
      </p:sp>
      <p:sp>
        <p:nvSpPr>
          <p:cNvPr id="39" name="Step big 2"/>
          <p:cNvSpPr/>
          <p:nvPr/>
        </p:nvSpPr>
        <p:spPr>
          <a:xfrm>
            <a:off x="8385048" y="2432304"/>
            <a:ext cx="2834640" cy="34747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E1A2B"/>
                </a:solidFill>
                <a:latin typeface="IBM Plex Sans KR" pitchFamily="34" charset="0"/>
                <a:ea typeface="IBM Plex Sans KR" pitchFamily="34" charset="-122"/>
                <a:cs typeface="IBM Plex Sans KR" pitchFamily="34" charset="-120"/>
              </a:rPr>
              <a:t>우물별 감량안을 낸다</a:t>
            </a:r>
            <a:endParaRPr lang="en-US" sz="1800" dirty="0"/>
          </a:p>
        </p:txBody>
      </p:sp>
      <p:sp>
        <p:nvSpPr>
          <p:cNvPr id="40" name="Step body 2"/>
          <p:cNvSpPr/>
          <p:nvPr/>
        </p:nvSpPr>
        <p:spPr>
          <a:xfrm>
            <a:off x="8385048" y="2834640"/>
            <a:ext cx="2834640" cy="7315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침하 기준(연 12.7mm)을 지키면서 비용이 가장 적게 드는 우물별 감량량을 계산한다</a:t>
            </a:r>
            <a:endParaRPr lang="en-US" sz="1300" dirty="0"/>
          </a:p>
        </p:txBody>
      </p:sp>
      <p:sp>
        <p:nvSpPr>
          <p:cNvPr id="41" name="Arrow 0"/>
          <p:cNvSpPr/>
          <p:nvPr/>
        </p:nvSpPr>
        <p:spPr>
          <a:xfrm>
            <a:off x="4014216" y="2670048"/>
            <a:ext cx="484632" cy="365760"/>
          </a:xfrm>
          <a:prstGeom prst="rect">
            <a:avLst/>
          </a:prstGeom>
          <a:noFill/>
          <a:ln/>
        </p:spPr>
        <p:txBody>
          <a:bodyPr wrap="square" lIns="0" tIns="0" rIns="0" bIns="0" rtlCol="0" anchor="t">
            <a:normAutofit/>
          </a:bodyPr>
          <a:lstStyle/>
          <a:p>
            <a:pPr marL="0" indent="0" algn="ctr">
              <a:lnSpc>
                <a:spcPts val="3000"/>
              </a:lnSpc>
              <a:buNone/>
            </a:pPr>
            <a:r>
              <a:rPr lang="en-US" sz="2200" b="1" dirty="0">
                <a:solidFill>
                  <a:srgbClr val="9AA3AE"/>
                </a:solidFill>
                <a:latin typeface="IBM Plex Sans KR" pitchFamily="34" charset="0"/>
                <a:ea typeface="IBM Plex Sans KR" pitchFamily="34" charset="-122"/>
                <a:cs typeface="IBM Plex Sans KR" pitchFamily="34" charset="-120"/>
              </a:rPr>
              <a:t>→</a:t>
            </a:r>
            <a:endParaRPr lang="en-US" sz="1800" dirty="0"/>
          </a:p>
        </p:txBody>
      </p:sp>
      <p:sp>
        <p:nvSpPr>
          <p:cNvPr id="42" name="Arrow 1"/>
          <p:cNvSpPr/>
          <p:nvPr/>
        </p:nvSpPr>
        <p:spPr>
          <a:xfrm>
            <a:off x="7699248" y="2670048"/>
            <a:ext cx="484632" cy="365760"/>
          </a:xfrm>
          <a:prstGeom prst="rect">
            <a:avLst/>
          </a:prstGeom>
          <a:noFill/>
          <a:ln/>
        </p:spPr>
        <p:txBody>
          <a:bodyPr wrap="square" lIns="0" tIns="0" rIns="0" bIns="0" rtlCol="0" anchor="t">
            <a:normAutofit/>
          </a:bodyPr>
          <a:lstStyle/>
          <a:p>
            <a:pPr marL="0" indent="0" algn="ctr">
              <a:lnSpc>
                <a:spcPts val="3000"/>
              </a:lnSpc>
              <a:buNone/>
            </a:pPr>
            <a:r>
              <a:rPr lang="en-US" sz="2200" b="1" dirty="0">
                <a:solidFill>
                  <a:srgbClr val="9AA3AE"/>
                </a:solidFill>
                <a:latin typeface="IBM Plex Sans KR" pitchFamily="34" charset="0"/>
                <a:ea typeface="IBM Plex Sans KR" pitchFamily="34" charset="-122"/>
                <a:cs typeface="IBM Plex Sans KR" pitchFamily="34" charset="-120"/>
              </a:rPr>
              <a:t>→</a:t>
            </a:r>
            <a:endParaRPr lang="en-US" sz="1800" dirty="0"/>
          </a:p>
        </p:txBody>
      </p:sp>
      <p:sp>
        <p:nvSpPr>
          <p:cNvPr id="43" name="Row label"/>
          <p:cNvSpPr/>
          <p:nvPr/>
        </p:nvSpPr>
        <p:spPr>
          <a:xfrm>
            <a:off x="813816" y="3950208"/>
            <a:ext cx="10570464" cy="25603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관리기관이 받는 것</a:t>
            </a:r>
            <a:r>
              <a:rPr lang="en-US" sz="1200" dirty="0">
                <a:solidFill>
                  <a:srgbClr val="6B7480"/>
                </a:solidFill>
                <a:latin typeface="IBM Plex Sans KR" pitchFamily="34" charset="0"/>
                <a:ea typeface="IBM Plex Sans KR" pitchFamily="34" charset="-122"/>
                <a:cs typeface="IBM Plex Sans KR" pitchFamily="34" charset="-120"/>
              </a:rPr>
              <a:t>  ·  6개월마다 금지 연장을 정할 때 필요한 세 가지 답</a:t>
            </a:r>
            <a:endParaRPr lang="en-US" sz="1200" dirty="0"/>
          </a:p>
        </p:txBody>
      </p:sp>
      <p:sp>
        <p:nvSpPr>
          <p:cNvPr id="44" name="Out card 0"/>
          <p:cNvSpPr/>
          <p:nvPr/>
        </p:nvSpPr>
        <p:spPr>
          <a:xfrm>
            <a:off x="813816" y="4279392"/>
            <a:ext cx="3200400" cy="1188720"/>
          </a:xfrm>
          <a:prstGeom prst="roundRect">
            <a:avLst>
              <a:gd name="adj" fmla="val 7402"/>
            </a:avLst>
          </a:prstGeom>
          <a:solidFill>
            <a:srgbClr val="E6EDF9"/>
          </a:solidFill>
          <a:ln w="6350">
            <a:solidFill>
              <a:srgbClr val="D3DEF2"/>
            </a:solidFill>
            <a:prstDash val="solid"/>
          </a:ln>
        </p:spPr>
        <p:txBody>
          <a:bodyPr/>
          <a:lstStyle/>
          <a:p>
            <a:endParaRPr lang="ko-KR" altLang="en-US"/>
          </a:p>
        </p:txBody>
      </p:sp>
      <p:sp>
        <p:nvSpPr>
          <p:cNvPr id="45" name="Out label 0"/>
          <p:cNvSpPr/>
          <p:nvPr/>
        </p:nvSpPr>
        <p:spPr>
          <a:xfrm>
            <a:off x="1014984" y="4443984"/>
            <a:ext cx="2834640"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① 금지가 지켜지는가</a:t>
            </a:r>
            <a:endParaRPr lang="en-US" sz="1200" dirty="0"/>
          </a:p>
        </p:txBody>
      </p:sp>
      <p:sp>
        <p:nvSpPr>
          <p:cNvPr id="46" name="Out big 0"/>
          <p:cNvSpPr/>
          <p:nvPr/>
        </p:nvSpPr>
        <p:spPr>
          <a:xfrm>
            <a:off x="1014984" y="4700016"/>
            <a:ext cx="2834640" cy="34747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E1A2B"/>
                </a:solidFill>
                <a:latin typeface="IBM Plex Sans KR" pitchFamily="34" charset="0"/>
                <a:ea typeface="IBM Plex Sans KR" pitchFamily="34" charset="-122"/>
                <a:cs typeface="IBM Plex Sans KR" pitchFamily="34" charset="-120"/>
              </a:rPr>
              <a:t>먼저 확인할 곳 목록</a:t>
            </a:r>
            <a:endParaRPr lang="en-US" sz="1800" dirty="0"/>
          </a:p>
        </p:txBody>
      </p:sp>
      <p:sp>
        <p:nvSpPr>
          <p:cNvPr id="47" name="Out body 0"/>
          <p:cNvSpPr/>
          <p:nvPr/>
        </p:nvSpPr>
        <p:spPr>
          <a:xfrm>
            <a:off x="1014984" y="5084064"/>
            <a:ext cx="2834640" cy="24688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위성으로 금지구역 안·밖 비교</a:t>
            </a:r>
            <a:endParaRPr lang="en-US" sz="1300" dirty="0"/>
          </a:p>
        </p:txBody>
      </p:sp>
      <p:sp>
        <p:nvSpPr>
          <p:cNvPr id="48" name="Out card 1"/>
          <p:cNvSpPr/>
          <p:nvPr/>
        </p:nvSpPr>
        <p:spPr>
          <a:xfrm>
            <a:off x="4498848" y="4279392"/>
            <a:ext cx="3200400" cy="1188720"/>
          </a:xfrm>
          <a:prstGeom prst="roundRect">
            <a:avLst>
              <a:gd name="adj" fmla="val 7402"/>
            </a:avLst>
          </a:prstGeom>
          <a:solidFill>
            <a:srgbClr val="E6EDF9"/>
          </a:solidFill>
          <a:ln w="6350">
            <a:solidFill>
              <a:srgbClr val="D3DEF2"/>
            </a:solidFill>
            <a:prstDash val="solid"/>
          </a:ln>
        </p:spPr>
        <p:txBody>
          <a:bodyPr/>
          <a:lstStyle/>
          <a:p>
            <a:endParaRPr lang="ko-KR" altLang="en-US"/>
          </a:p>
        </p:txBody>
      </p:sp>
      <p:sp>
        <p:nvSpPr>
          <p:cNvPr id="49" name="Out label 1"/>
          <p:cNvSpPr/>
          <p:nvPr/>
        </p:nvSpPr>
        <p:spPr>
          <a:xfrm>
            <a:off x="4700016" y="4443984"/>
            <a:ext cx="2834640"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② 지금 금지로 충분한가</a:t>
            </a:r>
            <a:endParaRPr lang="en-US" sz="1200" dirty="0"/>
          </a:p>
        </p:txBody>
      </p:sp>
      <p:sp>
        <p:nvSpPr>
          <p:cNvPr id="50" name="Out big 1"/>
          <p:cNvSpPr/>
          <p:nvPr/>
        </p:nvSpPr>
        <p:spPr>
          <a:xfrm>
            <a:off x="4700016" y="4700016"/>
            <a:ext cx="2834640" cy="34747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E1A2B"/>
                </a:solidFill>
                <a:latin typeface="IBM Plex Sans KR" pitchFamily="34" charset="0"/>
                <a:ea typeface="IBM Plex Sans KR" pitchFamily="34" charset="-122"/>
                <a:cs typeface="IBM Plex Sans KR" pitchFamily="34" charset="-120"/>
              </a:rPr>
              <a:t>평년 45% 지점만 기준 안</a:t>
            </a:r>
            <a:endParaRPr lang="en-US" sz="1800" dirty="0"/>
          </a:p>
        </p:txBody>
      </p:sp>
      <p:sp>
        <p:nvSpPr>
          <p:cNvPr id="51" name="Out body 1"/>
          <p:cNvSpPr/>
          <p:nvPr/>
        </p:nvSpPr>
        <p:spPr>
          <a:xfrm>
            <a:off x="4700016" y="5084064"/>
            <a:ext cx="2834640" cy="24688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4km 금지를 다 지켜도</a:t>
            </a:r>
            <a:endParaRPr lang="en-US" sz="1300" dirty="0"/>
          </a:p>
        </p:txBody>
      </p:sp>
      <p:sp>
        <p:nvSpPr>
          <p:cNvPr id="52" name="Out card 2"/>
          <p:cNvSpPr/>
          <p:nvPr/>
        </p:nvSpPr>
        <p:spPr>
          <a:xfrm>
            <a:off x="8183880" y="4279392"/>
            <a:ext cx="3200400" cy="1188720"/>
          </a:xfrm>
          <a:prstGeom prst="roundRect">
            <a:avLst>
              <a:gd name="adj" fmla="val 7402"/>
            </a:avLst>
          </a:prstGeom>
          <a:solidFill>
            <a:srgbClr val="E6EDF9"/>
          </a:solidFill>
          <a:ln w="6350">
            <a:solidFill>
              <a:srgbClr val="D3DEF2"/>
            </a:solidFill>
            <a:prstDash val="solid"/>
          </a:ln>
        </p:spPr>
        <p:txBody>
          <a:bodyPr/>
          <a:lstStyle/>
          <a:p>
            <a:endParaRPr lang="ko-KR" altLang="en-US"/>
          </a:p>
        </p:txBody>
      </p:sp>
      <p:sp>
        <p:nvSpPr>
          <p:cNvPr id="53" name="Out label 2"/>
          <p:cNvSpPr/>
          <p:nvPr/>
        </p:nvSpPr>
        <p:spPr>
          <a:xfrm>
            <a:off x="8385048" y="4443984"/>
            <a:ext cx="2834640"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③ 가장 싼 보완책</a:t>
            </a:r>
            <a:endParaRPr lang="en-US" sz="1200" dirty="0"/>
          </a:p>
        </p:txBody>
      </p:sp>
      <p:sp>
        <p:nvSpPr>
          <p:cNvPr id="54" name="Out big 2"/>
          <p:cNvSpPr/>
          <p:nvPr/>
        </p:nvSpPr>
        <p:spPr>
          <a:xfrm>
            <a:off x="8385048" y="4700016"/>
            <a:ext cx="2834640" cy="347472"/>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0E1A2B"/>
                </a:solidFill>
                <a:latin typeface="IBM Plex Sans KR" pitchFamily="34" charset="0"/>
                <a:ea typeface="IBM Plex Sans KR" pitchFamily="34" charset="-122"/>
                <a:cs typeface="IBM Plex Sans KR" pitchFamily="34" charset="-120"/>
              </a:rPr>
              <a:t>반경 확대보다 20% 저렴</a:t>
            </a:r>
            <a:endParaRPr lang="en-US" sz="1800" dirty="0"/>
          </a:p>
        </p:txBody>
      </p:sp>
      <p:sp>
        <p:nvSpPr>
          <p:cNvPr id="55" name="Out body 2"/>
          <p:cNvSpPr/>
          <p:nvPr/>
        </p:nvSpPr>
        <p:spPr>
          <a:xfrm>
            <a:off x="8385048" y="5084064"/>
            <a:ext cx="2834640" cy="24688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같은 신뢰도, 평년 관개기 기준</a:t>
            </a:r>
            <a:endParaRPr lang="en-US" sz="1300" dirty="0"/>
          </a:p>
        </p:txBody>
      </p:sp>
      <p:sp>
        <p:nvSpPr>
          <p:cNvPr id="56" name="Analogy"/>
          <p:cNvSpPr/>
          <p:nvPr/>
        </p:nvSpPr>
        <p:spPr>
          <a:xfrm>
            <a:off x="813816" y="5669280"/>
            <a:ext cx="10570464" cy="25603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A2B"/>
                </a:solidFill>
                <a:latin typeface="IBM Plex Sans KR" pitchFamily="34" charset="0"/>
                <a:ea typeface="IBM Plex Sans KR" pitchFamily="34" charset="-122"/>
                <a:cs typeface="IBM Plex Sans KR" pitchFamily="34" charset="-120"/>
              </a:rPr>
              <a:t>점토층은 스펀지와 같다. </a:t>
            </a:r>
            <a:r>
              <a:rPr lang="en-US" sz="1300" dirty="0">
                <a:solidFill>
                  <a:srgbClr val="3C4656"/>
                </a:solidFill>
                <a:latin typeface="IBM Plex Sans KR" pitchFamily="34" charset="0"/>
                <a:ea typeface="IBM Plex Sans KR" pitchFamily="34" charset="-122"/>
                <a:cs typeface="IBM Plex Sans KR" pitchFamily="34" charset="-120"/>
              </a:rPr>
              <a:t>지하수를 뽑으면 물 짜낸 스펀지처럼 납작해지고, 한 번 눌린 점토는 대부분 돌아오지 않는다.</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AquaLimit · 10/28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9">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개발 과정 · 실험 원칙</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실험 원칙: 세 갈래 자료를 섞지 않는다</a:t>
            </a:r>
            <a:endParaRPr lang="en-US" sz="2600" dirty="0"/>
          </a:p>
        </p:txBody>
      </p:sp>
      <p:sp>
        <p:nvSpPr>
          <p:cNvPr id="4" name="Shape 2"/>
          <p:cNvSpPr/>
          <p:nvPr/>
        </p:nvSpPr>
        <p:spPr>
          <a:xfrm>
            <a:off x="815975" y="1764605"/>
            <a:ext cx="3414167" cy="2249041"/>
          </a:xfrm>
          <a:prstGeom prst="roundRect">
            <a:avLst>
              <a:gd name="adj" fmla="val 4376"/>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96950" y="1945580"/>
            <a:ext cx="314378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459C4"/>
                </a:solidFill>
                <a:latin typeface="IBM Plex Sans KR" pitchFamily="34" charset="0"/>
                <a:ea typeface="IBM Plex Sans KR" pitchFamily="34" charset="-122"/>
                <a:cs typeface="IBM Plex Sans KR" pitchFamily="34" charset="-120"/>
              </a:rPr>
              <a:t>넣은 자료 (입력)</a:t>
            </a:r>
            <a:endParaRPr lang="en-US" sz="1500" dirty="0"/>
          </a:p>
        </p:txBody>
      </p:sp>
      <p:sp>
        <p:nvSpPr>
          <p:cNvPr id="6" name="Text 4"/>
          <p:cNvSpPr/>
          <p:nvPr/>
        </p:nvSpPr>
        <p:spPr>
          <a:xfrm>
            <a:off x="996950" y="2237680"/>
            <a:ext cx="314378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480"/>
                </a:solidFill>
                <a:latin typeface="IBM Plex Sans KR" pitchFamily="34" charset="0"/>
                <a:ea typeface="IBM Plex Sans KR" pitchFamily="34" charset="-122"/>
                <a:cs typeface="IBM Plex Sans KR" pitchFamily="34" charset="-120"/>
              </a:rPr>
              <a:t>모델에 그대로 넣는다</a:t>
            </a:r>
            <a:endParaRPr lang="en-US" sz="1200" dirty="0"/>
          </a:p>
        </p:txBody>
      </p:sp>
      <p:sp>
        <p:nvSpPr>
          <p:cNvPr id="7" name="Text 5"/>
          <p:cNvSpPr/>
          <p:nvPr/>
        </p:nvSpPr>
        <p:spPr>
          <a:xfrm>
            <a:off x="1089406" y="2506911"/>
            <a:ext cx="3043707" cy="1351161"/>
          </a:xfrm>
          <a:prstGeom prst="rect">
            <a:avLst/>
          </a:prstGeom>
          <a:noFill/>
          <a:ln/>
        </p:spPr>
        <p:txBody>
          <a:bodyPr wrap="square" lIns="0" tIns="0" rIns="0" bIns="0" rtlCol="0" anchor="t">
            <a:normAutofit/>
          </a:bodyPr>
          <a:lstStyle/>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USGS CVHM2 지층 구조</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gridMET 기상(기온·습도·바람·햇빛)</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Landsat 녹색도(밭별 물 사용)</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주정부 수로 물 배분율</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NOAA 강수</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DWR 우물 신고(위치·깊이·양수량)</a:t>
            </a:r>
            <a:endParaRPr lang="en-US" sz="1200" dirty="0"/>
          </a:p>
        </p:txBody>
      </p:sp>
      <p:sp>
        <p:nvSpPr>
          <p:cNvPr id="8" name="Shape 6"/>
          <p:cNvSpPr/>
          <p:nvPr/>
        </p:nvSpPr>
        <p:spPr>
          <a:xfrm>
            <a:off x="4388892" y="1764605"/>
            <a:ext cx="3414167" cy="2249041"/>
          </a:xfrm>
          <a:prstGeom prst="roundRect">
            <a:avLst>
              <a:gd name="adj" fmla="val 4376"/>
            </a:avLst>
          </a:prstGeom>
          <a:solidFill>
            <a:srgbClr val="FBFAF6"/>
          </a:solidFill>
          <a:ln w="6350">
            <a:solidFill>
              <a:srgbClr val="DAD6CB"/>
            </a:solidFill>
            <a:prstDash val="solid"/>
          </a:ln>
        </p:spPr>
        <p:txBody>
          <a:bodyPr/>
          <a:lstStyle/>
          <a:p>
            <a:endParaRPr lang="ko-KR" altLang="en-US"/>
          </a:p>
        </p:txBody>
      </p:sp>
      <p:sp>
        <p:nvSpPr>
          <p:cNvPr id="9" name="Text 7"/>
          <p:cNvSpPr/>
          <p:nvPr/>
        </p:nvSpPr>
        <p:spPr>
          <a:xfrm>
            <a:off x="4569867" y="1945580"/>
            <a:ext cx="314378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459C4"/>
                </a:solidFill>
                <a:latin typeface="IBM Plex Sans KR" pitchFamily="34" charset="0"/>
                <a:ea typeface="IBM Plex Sans KR" pitchFamily="34" charset="-122"/>
                <a:cs typeface="IBM Plex Sans KR" pitchFamily="34" charset="-120"/>
              </a:rPr>
              <a:t>맞춘 자료 (보정)</a:t>
            </a:r>
            <a:endParaRPr lang="en-US" sz="1500" dirty="0"/>
          </a:p>
        </p:txBody>
      </p:sp>
      <p:sp>
        <p:nvSpPr>
          <p:cNvPr id="10" name="Text 8"/>
          <p:cNvSpPr/>
          <p:nvPr/>
        </p:nvSpPr>
        <p:spPr>
          <a:xfrm>
            <a:off x="4569867" y="2237680"/>
            <a:ext cx="3143783"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480"/>
                </a:solidFill>
                <a:latin typeface="IBM Plex Sans KR" pitchFamily="34" charset="0"/>
                <a:ea typeface="IBM Plex Sans KR" pitchFamily="34" charset="-122"/>
                <a:cs typeface="IBM Plex Sans KR" pitchFamily="34" charset="-120"/>
              </a:rPr>
              <a:t>땅속 성질을 거꾸로 찾는 데 쓴다</a:t>
            </a:r>
            <a:endParaRPr lang="en-US" sz="1200" dirty="0"/>
          </a:p>
        </p:txBody>
      </p:sp>
      <p:sp>
        <p:nvSpPr>
          <p:cNvPr id="11" name="Text 9"/>
          <p:cNvSpPr/>
          <p:nvPr/>
        </p:nvSpPr>
        <p:spPr>
          <a:xfrm>
            <a:off x="4662323" y="2506911"/>
            <a:ext cx="3043707" cy="1371600"/>
          </a:xfrm>
          <a:prstGeom prst="rect">
            <a:avLst/>
          </a:prstGeom>
          <a:noFill/>
          <a:ln/>
        </p:spPr>
        <p:txBody>
          <a:bodyPr wrap="square" lIns="0" tIns="0" rIns="0" bIns="0" rtlCol="0" anchor="t">
            <a:normAutofit/>
          </a:bodyPr>
          <a:lstStyle/>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위성 침하: DWR InSAR(2015.7~2022.12)</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관측정 수위 30곳</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운영 모델만: 수로 GPS 2023~2026</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NASA OPERA로 다시 맞춘 버전은 비교용(실험 9, 원인 분해)</a:t>
            </a:r>
            <a:endParaRPr lang="en-US" sz="1200" dirty="0"/>
          </a:p>
        </p:txBody>
      </p:sp>
      <p:sp>
        <p:nvSpPr>
          <p:cNvPr id="12" name="Shape 10"/>
          <p:cNvSpPr/>
          <p:nvPr/>
        </p:nvSpPr>
        <p:spPr>
          <a:xfrm>
            <a:off x="7958634" y="1761430"/>
            <a:ext cx="3420566" cy="2255391"/>
          </a:xfrm>
          <a:prstGeom prst="roundRect">
            <a:avLst>
              <a:gd name="adj" fmla="val 4505"/>
            </a:avLst>
          </a:prstGeom>
          <a:solidFill>
            <a:srgbClr val="E6EDF9"/>
          </a:solidFill>
          <a:ln/>
        </p:spPr>
        <p:txBody>
          <a:bodyPr/>
          <a:lstStyle/>
          <a:p>
            <a:endParaRPr lang="ko-KR" altLang="en-US"/>
          </a:p>
        </p:txBody>
      </p:sp>
      <p:sp>
        <p:nvSpPr>
          <p:cNvPr id="13" name="Text 11"/>
          <p:cNvSpPr/>
          <p:nvPr/>
        </p:nvSpPr>
        <p:spPr>
          <a:xfrm>
            <a:off x="8136434" y="1939230"/>
            <a:ext cx="315691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B"/>
                </a:solidFill>
                <a:latin typeface="IBM Plex Sans KR" pitchFamily="34" charset="0"/>
                <a:ea typeface="IBM Plex Sans KR" pitchFamily="34" charset="-122"/>
                <a:cs typeface="IBM Plex Sans KR" pitchFamily="34" charset="-120"/>
              </a:rPr>
              <a:t>테스트 자료 (정답)</a:t>
            </a:r>
            <a:endParaRPr lang="en-US" sz="1500" dirty="0"/>
          </a:p>
        </p:txBody>
      </p:sp>
      <p:sp>
        <p:nvSpPr>
          <p:cNvPr id="14" name="Text 12"/>
          <p:cNvSpPr/>
          <p:nvPr/>
        </p:nvSpPr>
        <p:spPr>
          <a:xfrm>
            <a:off x="8136434" y="2231330"/>
            <a:ext cx="3156915"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480"/>
                </a:solidFill>
                <a:latin typeface="IBM Plex Sans KR" pitchFamily="34" charset="0"/>
                <a:ea typeface="IBM Plex Sans KR" pitchFamily="34" charset="-122"/>
                <a:cs typeface="IBM Plex Sans KR" pitchFamily="34" charset="-120"/>
              </a:rPr>
              <a:t>보정에 절대 쓰지 않는다</a:t>
            </a:r>
            <a:endParaRPr lang="en-US" sz="1200" dirty="0"/>
          </a:p>
        </p:txBody>
      </p:sp>
      <p:sp>
        <p:nvSpPr>
          <p:cNvPr id="15" name="Text 13"/>
          <p:cNvSpPr/>
          <p:nvPr/>
        </p:nvSpPr>
        <p:spPr>
          <a:xfrm>
            <a:off x="8228890" y="2500561"/>
            <a:ext cx="3056839" cy="1371600"/>
          </a:xfrm>
          <a:prstGeom prst="rect">
            <a:avLst/>
          </a:prstGeom>
          <a:noFill/>
          <a:ln/>
        </p:spPr>
        <p:txBody>
          <a:bodyPr wrap="square" lIns="0" tIns="0" rIns="0" bIns="0" rtlCol="0" anchor="t">
            <a:normAutofit/>
          </a:bodyPr>
          <a:lstStyle/>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최종 시험: 수로 GPS 5곳, 2023~2026.4</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연습 시험: 2019년까지 보정한 모델로 2020~22 위성 맞히기 (정답 위성: 실험 8까지 DWR, 실험 9부터 NASA OPERA)</a:t>
            </a:r>
            <a:endParaRPr lang="en-US" sz="1200" dirty="0"/>
          </a:p>
          <a:p>
            <a:pPr marL="161544" indent="-161544" algn="l">
              <a:lnSpc>
                <a:spcPts val="1740"/>
              </a:lnSpc>
              <a:buSzPct val="100000"/>
              <a:buChar char="•"/>
            </a:pPr>
            <a:r>
              <a:rPr lang="en-US" sz="1200" dirty="0">
                <a:solidFill>
                  <a:srgbClr val="3C4656"/>
                </a:solidFill>
                <a:latin typeface="IBM Plex Sans KR" pitchFamily="34" charset="0"/>
                <a:ea typeface="IBM Plex Sans KR" pitchFamily="34" charset="-122"/>
                <a:cs typeface="IBM Plex Sans KR" pitchFamily="34" charset="-120"/>
              </a:rPr>
              <a:t>가상 실험: 우리가 정해 둔 정답 땅</a:t>
            </a:r>
            <a:endParaRPr lang="en-US" sz="1200" dirty="0"/>
          </a:p>
        </p:txBody>
      </p:sp>
      <p:sp>
        <p:nvSpPr>
          <p:cNvPr id="16" name="Shape 14"/>
          <p:cNvSpPr/>
          <p:nvPr/>
        </p:nvSpPr>
        <p:spPr>
          <a:xfrm>
            <a:off x="812800" y="4194621"/>
            <a:ext cx="10566400" cy="535930"/>
          </a:xfrm>
          <a:prstGeom prst="roundRect">
            <a:avLst>
              <a:gd name="adj" fmla="val 18958"/>
            </a:avLst>
          </a:prstGeom>
          <a:solidFill>
            <a:srgbClr val="0E1A2B"/>
          </a:solidFill>
          <a:ln/>
        </p:spPr>
        <p:txBody>
          <a:bodyPr/>
          <a:lstStyle/>
          <a:p>
            <a:endParaRPr lang="ko-KR" altLang="en-US"/>
          </a:p>
        </p:txBody>
      </p:sp>
      <p:sp>
        <p:nvSpPr>
          <p:cNvPr id="17" name="Text 15"/>
          <p:cNvSpPr/>
          <p:nvPr/>
        </p:nvSpPr>
        <p:spPr>
          <a:xfrm>
            <a:off x="1016000" y="4347021"/>
            <a:ext cx="241998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①</a:t>
            </a:r>
            <a:r>
              <a:rPr lang="en-US" sz="1300" dirty="0">
                <a:solidFill>
                  <a:srgbClr val="F4F2EC"/>
                </a:solidFill>
                <a:latin typeface="IBM Plex Sans KR" pitchFamily="34" charset="0"/>
                <a:ea typeface="IBM Plex Sans KR" pitchFamily="34" charset="-122"/>
                <a:cs typeface="IBM Plex Sans KR" pitchFamily="34" charset="-120"/>
              </a:rPr>
              <a:t> 개선은 연습 시험으로만 판단</a:t>
            </a:r>
            <a:endParaRPr lang="en-US" sz="1300" dirty="0"/>
          </a:p>
        </p:txBody>
      </p:sp>
      <p:sp>
        <p:nvSpPr>
          <p:cNvPr id="18" name="Text 16"/>
          <p:cNvSpPr/>
          <p:nvPr/>
        </p:nvSpPr>
        <p:spPr>
          <a:xfrm>
            <a:off x="3619500" y="4347021"/>
            <a:ext cx="241998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②</a:t>
            </a:r>
            <a:r>
              <a:rPr lang="en-US" sz="1300" dirty="0">
                <a:solidFill>
                  <a:srgbClr val="F4F2EC"/>
                </a:solidFill>
                <a:latin typeface="IBM Plex Sans KR" pitchFamily="34" charset="0"/>
                <a:ea typeface="IBM Plex Sans KR" pitchFamily="34" charset="-122"/>
                <a:cs typeface="IBM Plex Sans KR" pitchFamily="34" charset="-120"/>
              </a:rPr>
              <a:t> 최종 시험은 확정할 때 한 번</a:t>
            </a:r>
            <a:endParaRPr lang="en-US" sz="1300" dirty="0"/>
          </a:p>
        </p:txBody>
      </p:sp>
      <p:sp>
        <p:nvSpPr>
          <p:cNvPr id="19" name="Text 17"/>
          <p:cNvSpPr/>
          <p:nvPr/>
        </p:nvSpPr>
        <p:spPr>
          <a:xfrm>
            <a:off x="6223000" y="4347021"/>
            <a:ext cx="241998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③</a:t>
            </a:r>
            <a:r>
              <a:rPr lang="en-US" sz="1300" dirty="0">
                <a:solidFill>
                  <a:srgbClr val="F4F2EC"/>
                </a:solidFill>
                <a:latin typeface="IBM Plex Sans KR" pitchFamily="34" charset="0"/>
                <a:ea typeface="IBM Plex Sans KR" pitchFamily="34" charset="-122"/>
                <a:cs typeface="IBM Plex Sans KR" pitchFamily="34" charset="-120"/>
              </a:rPr>
              <a:t> 판정 기준은 결과 보기 전에</a:t>
            </a:r>
            <a:endParaRPr lang="en-US" sz="1300" dirty="0"/>
          </a:p>
        </p:txBody>
      </p:sp>
      <p:sp>
        <p:nvSpPr>
          <p:cNvPr id="20" name="Text 18"/>
          <p:cNvSpPr/>
          <p:nvPr/>
        </p:nvSpPr>
        <p:spPr>
          <a:xfrm>
            <a:off x="8826500" y="4347021"/>
            <a:ext cx="2419985"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④</a:t>
            </a:r>
            <a:r>
              <a:rPr lang="en-US" sz="1300" dirty="0">
                <a:solidFill>
                  <a:srgbClr val="F4F2EC"/>
                </a:solidFill>
                <a:latin typeface="IBM Plex Sans KR" pitchFamily="34" charset="0"/>
                <a:ea typeface="IBM Plex Sans KR" pitchFamily="34" charset="-122"/>
                <a:cs typeface="IBM Plex Sans KR" pitchFamily="34" charset="-120"/>
              </a:rPr>
              <a:t> 단순 예측과 항상 같이 테스트</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단순 예측 = '앞으로 안 꺼진다(변화 0)'와 '위성 추세를 그대로 연장'</a:t>
            </a:r>
            <a:endParaRPr lang="en-US" sz="1200" dirty="0"/>
          </a:p>
        </p:txBody>
      </p:sp>
      <p:sp>
        <p:nvSpPr>
          <p:cNvPr id="22" name="Structure note"/>
          <p:cNvSpPr/>
          <p:nvPr/>
        </p:nvSpPr>
        <p:spPr>
          <a:xfrm>
            <a:off x="812800" y="4937760"/>
            <a:ext cx="10883392" cy="25603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656"/>
                </a:solidFill>
                <a:latin typeface="IBM Plex Sans KR" pitchFamily="34" charset="0"/>
                <a:ea typeface="IBM Plex Sans KR" pitchFamily="34" charset="-122"/>
                <a:cs typeface="IBM Plex Sans KR" pitchFamily="34" charset="-120"/>
              </a:rPr>
              <a:t>늦게 눌리는 점토 같은 모델 구조는 자료가 아니라 계산 방식이라, 실험마다 '바꾼 것'에 적었다.</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4 · 모델 v3</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점토가 늦게 눌리는 것과 과거 가뭄을 넣으면?</a:t>
            </a:r>
            <a:endParaRPr lang="en-US" sz="2600" dirty="0"/>
          </a:p>
        </p:txBody>
      </p:sp>
      <p:sp>
        <p:nvSpPr>
          <p:cNvPr id="4" name="Shape 2"/>
          <p:cNvSpPr/>
          <p:nvPr/>
        </p:nvSpPr>
        <p:spPr>
          <a:xfrm>
            <a:off x="815975" y="1764605"/>
            <a:ext cx="3803650" cy="113385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바꾼 것 (모델 구조)</a:t>
            </a:r>
            <a:endParaRPr lang="en-US" sz="1200" dirty="0"/>
          </a:p>
        </p:txBody>
      </p:sp>
      <p:sp>
        <p:nvSpPr>
          <p:cNvPr id="6" name="Text 4"/>
          <p:cNvSpPr/>
          <p:nvPr/>
        </p:nvSpPr>
        <p:spPr>
          <a:xfrm>
            <a:off x="971550" y="2130365"/>
            <a:ext cx="3597275" cy="65836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지연 압밀(남·북 구역 따로) · 2005~2015 과거 취수 이력으로 시작 상태 · 관개 회귀수 함양 · 현실적인 값 범위</a:t>
            </a:r>
            <a:endParaRPr lang="en-US" sz="1200" dirty="0"/>
          </a:p>
        </p:txBody>
      </p:sp>
      <p:sp>
        <p:nvSpPr>
          <p:cNvPr id="7" name="Shape 5"/>
          <p:cNvSpPr/>
          <p:nvPr/>
        </p:nvSpPr>
        <p:spPr>
          <a:xfrm>
            <a:off x="815975" y="2999045"/>
            <a:ext cx="3803650" cy="707136"/>
          </a:xfrm>
          <a:prstGeom prst="roundRect">
            <a:avLst>
              <a:gd name="adj" fmla="val 12386"/>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311652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(보정)</a:t>
            </a:r>
            <a:endParaRPr lang="en-US" sz="1200" dirty="0"/>
          </a:p>
        </p:txBody>
      </p:sp>
      <p:sp>
        <p:nvSpPr>
          <p:cNvPr id="9" name="Text 7"/>
          <p:cNvSpPr/>
          <p:nvPr/>
        </p:nvSpPr>
        <p:spPr>
          <a:xfrm>
            <a:off x="971550" y="3364805"/>
            <a:ext cx="3597275" cy="23164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DWR 위성 + 관측정, 2015.7~2022.12 (같음)</a:t>
            </a:r>
            <a:endParaRPr lang="en-US" sz="1200" dirty="0"/>
          </a:p>
        </p:txBody>
      </p:sp>
      <p:sp>
        <p:nvSpPr>
          <p:cNvPr id="10" name="Shape 8"/>
          <p:cNvSpPr/>
          <p:nvPr/>
        </p:nvSpPr>
        <p:spPr>
          <a:xfrm>
            <a:off x="812800" y="3806765"/>
            <a:ext cx="3810000" cy="707136"/>
          </a:xfrm>
          <a:prstGeom prst="roundRect">
            <a:avLst>
              <a:gd name="adj" fmla="val 12964"/>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a:t>
            </a:r>
            <a:endParaRPr lang="en-US" sz="1200" dirty="0"/>
          </a:p>
        </p:txBody>
      </p:sp>
      <p:sp>
        <p:nvSpPr>
          <p:cNvPr id="12" name="Text 10"/>
          <p:cNvSpPr/>
          <p:nvPr/>
        </p:nvSpPr>
        <p:spPr>
          <a:xfrm>
            <a:off x="965200" y="4172525"/>
            <a:ext cx="3610356" cy="23164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수로 GPS 5곳 (같음)</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89500" y="1774130"/>
          <a:ext cx="6489700" cy="1796605"/>
        </p:xfrm>
        <a:graphic>
          <a:graphicData uri="http://schemas.openxmlformats.org/drawingml/2006/table">
            <a:tbl>
              <a:tblPr/>
              <a:tblGrid>
                <a:gridCol w="2985262">
                  <a:extLst>
                    <a:ext uri="{9D8B030D-6E8A-4147-A177-3AD203B41FA5}">
                      <a16:colId xmlns:a16="http://schemas.microsoft.com/office/drawing/2014/main" val="20000"/>
                    </a:ext>
                  </a:extLst>
                </a:gridCol>
                <a:gridCol w="1752219">
                  <a:extLst>
                    <a:ext uri="{9D8B030D-6E8A-4147-A177-3AD203B41FA5}">
                      <a16:colId xmlns:a16="http://schemas.microsoft.com/office/drawing/2014/main" val="20001"/>
                    </a:ext>
                  </a:extLst>
                </a:gridCol>
                <a:gridCol w="1752219">
                  <a:extLst>
                    <a:ext uri="{9D8B030D-6E8A-4147-A177-3AD203B41FA5}">
                      <a16:colId xmlns:a16="http://schemas.microsoft.com/office/drawing/2014/main" val="20002"/>
                    </a:ext>
                  </a:extLst>
                </a:gridCol>
              </a:tblGrid>
              <a:tr h="359321">
                <a:tc>
                  <a:txBody>
                    <a:bodyPr/>
                    <a:lstStyle/>
                    <a:p>
                      <a:pPr marL="0" indent="0">
                        <a:lnSpc>
                          <a:spcPts val="1820"/>
                        </a:lnSpc>
                        <a:buNone/>
                      </a:pP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10/13 버전</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v3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GPS 침하 오차</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25.2mm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21.2mm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90% 범위의 GPS 포함률</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100%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99%</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90% 범위 평균 폭</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265mm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97mm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(비교) 위성 추세 연장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7.2mm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7.2mm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11"/>
          <p:cNvSpPr/>
          <p:nvPr/>
        </p:nvSpPr>
        <p:spPr>
          <a:xfrm>
            <a:off x="4876800" y="3697734"/>
            <a:ext cx="669747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남쪽 점토가 북쪽보다 약 4배 느리게 눌린다고 추정 → GPS에서 본 남북 차이와 같은 방향</a:t>
            </a:r>
            <a:endParaRPr lang="en-US" sz="1200" dirty="0"/>
          </a:p>
        </p:txBody>
      </p:sp>
      <p:sp>
        <p:nvSpPr>
          <p:cNvPr id="15" name="Text 12"/>
          <p:cNvSpPr/>
          <p:nvPr/>
        </p:nvSpPr>
        <p:spPr>
          <a:xfrm>
            <a:off x="4876800" y="4045694"/>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무엇 덕분에 좋아졌는지 하나씩 빼 본다 (실험 5). 추세 연장은 아직 못 이겨서 구조 후보를 더 시험한다 (실험 8)</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파라미터 21개, 가우스-뉴턴 역산 + 사후분포 앙상블 30개</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5 · </a:t>
            </a:r>
            <a:r>
              <a:rPr lang="en-US" sz="1200" kern="0" spc="150" dirty="0" err="1">
                <a:solidFill>
                  <a:srgbClr val="2459C4"/>
                </a:solidFill>
                <a:latin typeface="IBM Plex Mono" pitchFamily="49" charset="0"/>
                <a:ea typeface="IBM Plex Mono" pitchFamily="49" charset="-122"/>
                <a:cs typeface="IBM Plex Mono" pitchFamily="49" charset="-120"/>
              </a:rPr>
              <a:t>입력</a:t>
            </a:r>
            <a:r>
              <a:rPr lang="en-US" sz="1200" kern="0" spc="150" dirty="0">
                <a:solidFill>
                  <a:srgbClr val="2459C4"/>
                </a:solidFill>
                <a:latin typeface="IBM Plex Mono" pitchFamily="49" charset="0"/>
                <a:ea typeface="IBM Plex Mono" pitchFamily="49" charset="-122"/>
                <a:cs typeface="IBM Plex Mono" pitchFamily="49" charset="-120"/>
              </a:rPr>
              <a:t> 하나씩 빼기</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날씨·수로 물·밭 정보가 각각 도움이 되나?</a:t>
            </a:r>
            <a:endParaRPr lang="en-US" sz="2600" dirty="0"/>
          </a:p>
        </p:txBody>
      </p:sp>
      <p:sp>
        <p:nvSpPr>
          <p:cNvPr id="4" name="Shape 2"/>
          <p:cNvSpPr/>
          <p:nvPr/>
        </p:nvSpPr>
        <p:spPr>
          <a:xfrm>
            <a:off x="815975" y="1764605"/>
            <a:ext cx="3803650" cy="113385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바꾼 것 (넣은 자료)</a:t>
            </a:r>
            <a:endParaRPr lang="en-US" sz="1200" dirty="0"/>
          </a:p>
        </p:txBody>
      </p:sp>
      <p:sp>
        <p:nvSpPr>
          <p:cNvPr id="6" name="Text 4"/>
          <p:cNvSpPr/>
          <p:nvPr/>
        </p:nvSpPr>
        <p:spPr>
          <a:xfrm>
            <a:off x="971550" y="2130365"/>
            <a:ext cx="3597275" cy="65836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한 번에 하나씩 뺀다: 기상을 해마다 같게 / 수로 물 배분율을 해마다 같게 / 밭별 Landsat 대신 지역 평균</a:t>
            </a:r>
            <a:endParaRPr lang="en-US" sz="1200" dirty="0"/>
          </a:p>
        </p:txBody>
      </p:sp>
      <p:sp>
        <p:nvSpPr>
          <p:cNvPr id="7" name="Shape 5"/>
          <p:cNvSpPr/>
          <p:nvPr/>
        </p:nvSpPr>
        <p:spPr>
          <a:xfrm>
            <a:off x="815975" y="2999045"/>
            <a:ext cx="3803650" cy="707136"/>
          </a:xfrm>
          <a:prstGeom prst="roundRect">
            <a:avLst>
              <a:gd name="adj" fmla="val 12386"/>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311652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(보정)</a:t>
            </a:r>
            <a:endParaRPr lang="en-US" sz="1200" dirty="0"/>
          </a:p>
        </p:txBody>
      </p:sp>
      <p:sp>
        <p:nvSpPr>
          <p:cNvPr id="9" name="Text 7"/>
          <p:cNvSpPr/>
          <p:nvPr/>
        </p:nvSpPr>
        <p:spPr>
          <a:xfrm>
            <a:off x="971550" y="3364805"/>
            <a:ext cx="3597275" cy="23164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뺄 때마다 처음부터 다시 보정 (DWR 위성 + 관측정)</a:t>
            </a:r>
            <a:endParaRPr lang="en-US" sz="1200" dirty="0"/>
          </a:p>
        </p:txBody>
      </p:sp>
      <p:sp>
        <p:nvSpPr>
          <p:cNvPr id="10" name="Shape 8"/>
          <p:cNvSpPr/>
          <p:nvPr/>
        </p:nvSpPr>
        <p:spPr>
          <a:xfrm>
            <a:off x="812800" y="3806765"/>
            <a:ext cx="3810000" cy="707136"/>
          </a:xfrm>
          <a:prstGeom prst="roundRect">
            <a:avLst>
              <a:gd name="adj" fmla="val 12964"/>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a:t>
            </a:r>
            <a:endParaRPr lang="en-US" sz="1200" dirty="0"/>
          </a:p>
        </p:txBody>
      </p:sp>
      <p:sp>
        <p:nvSpPr>
          <p:cNvPr id="12" name="Text 10"/>
          <p:cNvSpPr/>
          <p:nvPr/>
        </p:nvSpPr>
        <p:spPr>
          <a:xfrm>
            <a:off x="965200" y="4172525"/>
            <a:ext cx="3610356" cy="23164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수로 GPS 5곳 (같음)</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797645514"/>
              </p:ext>
            </p:extLst>
          </p:nvPr>
        </p:nvGraphicFramePr>
        <p:xfrm>
          <a:off x="4889500" y="1774130"/>
          <a:ext cx="6489700" cy="1796605"/>
        </p:xfrm>
        <a:graphic>
          <a:graphicData uri="http://schemas.openxmlformats.org/drawingml/2006/table">
            <a:tbl>
              <a:tblPr/>
              <a:tblGrid>
                <a:gridCol w="2595880">
                  <a:extLst>
                    <a:ext uri="{9D8B030D-6E8A-4147-A177-3AD203B41FA5}">
                      <a16:colId xmlns:a16="http://schemas.microsoft.com/office/drawing/2014/main" val="20000"/>
                    </a:ext>
                  </a:extLst>
                </a:gridCol>
                <a:gridCol w="1557528">
                  <a:extLst>
                    <a:ext uri="{9D8B030D-6E8A-4147-A177-3AD203B41FA5}">
                      <a16:colId xmlns:a16="http://schemas.microsoft.com/office/drawing/2014/main" val="20001"/>
                    </a:ext>
                  </a:extLst>
                </a:gridCol>
                <a:gridCol w="2336292">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모델</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GPS 오차</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뜻</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v3 전체</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21.2mm</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기상 빼기</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23.5 (+2.3)</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온도가 도움이 된다</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수로 배분율 빼기</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24.7 (+3.5)</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가뭄 해 수로 물 부족이 핵심</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밭별 Landsat </a:t>
                      </a:r>
                      <a:r>
                        <a:rPr lang="ko-KR" altLang="en-US" sz="1300" dirty="0">
                          <a:solidFill>
                            <a:srgbClr val="1B2533"/>
                          </a:solidFill>
                          <a:latin typeface="IBM Plex Sans KR" pitchFamily="34" charset="0"/>
                          <a:ea typeface="IBM Plex Sans KR" pitchFamily="34" charset="-122"/>
                          <a:cs typeface="IBM Plex Sans KR" pitchFamily="34" charset="-120"/>
                        </a:rPr>
                        <a:t>차이 </a:t>
                      </a:r>
                      <a:r>
                        <a:rPr lang="en-US" sz="1300" dirty="0" err="1">
                          <a:solidFill>
                            <a:srgbClr val="1B2533"/>
                          </a:solidFill>
                          <a:latin typeface="IBM Plex Sans KR" pitchFamily="34" charset="0"/>
                          <a:ea typeface="IBM Plex Sans KR" pitchFamily="34" charset="-122"/>
                          <a:cs typeface="IBM Plex Sans KR" pitchFamily="34" charset="-120"/>
                        </a:rPr>
                        <a:t>빼기</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19.2 (−2.0)</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이 GPS 5곳엔 도움 안 됨</a:t>
                      </a:r>
                      <a:endParaRPr lang="en-US" sz="1300" dirty="0">
                        <a:latin typeface="IBM Plex Sans KR" charset="0"/>
                        <a:ea typeface="IBM Plex Sans KR" charset="0"/>
                        <a:cs typeface="IBM Plex Sans KR" charset="0"/>
                      </a:endParaRPr>
                    </a:p>
                  </a:txBody>
                  <a:tcPr marL="152400" marR="152400"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11"/>
          <p:cNvSpPr/>
          <p:nvPr/>
        </p:nvSpPr>
        <p:spPr>
          <a:xfrm>
            <a:off x="4876800" y="3697734"/>
            <a:ext cx="6697472" cy="658368"/>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빼서 나빠지면 그 입력이 쓸모 있다는 뜻. 밭별 정보는 빼니 오히려 좋아졌다(GPS 5곳뿐이라 2mm 차이는 우연일 수도 있다). 최종 시험 점수로는 모델을 바꾸지 않는다는 원칙대로 유지하고, 연습 시험으로 다시 확인한다</a:t>
            </a:r>
            <a:endParaRPr lang="en-US" sz="1200" dirty="0"/>
          </a:p>
        </p:txBody>
      </p:sp>
      <p:sp>
        <p:nvSpPr>
          <p:cNvPr id="15" name="Text 12"/>
          <p:cNvSpPr/>
          <p:nvPr/>
        </p:nvSpPr>
        <p:spPr>
          <a:xfrm>
            <a:off x="4876800" y="4443984"/>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날씨·배분율은 남긴다. 계획에 쓰이는 건 '취수를 바꾸면 얼마나 바뀌나'라서, 그 응답을 실제 사건으로 확인한다 (실험 6)</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날씨·온도 반영 효과 확인 실험</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6 · 자연 실험</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취수가 바뀐 실제 사건을 모델이 맞히나?</a:t>
            </a:r>
            <a:endParaRPr lang="en-US" sz="2600" dirty="0"/>
          </a:p>
        </p:txBody>
      </p:sp>
      <p:sp>
        <p:nvSpPr>
          <p:cNvPr id="4" name="Shape 2"/>
          <p:cNvSpPr/>
          <p:nvPr/>
        </p:nvSpPr>
        <p:spPr>
          <a:xfrm>
            <a:off x="815975" y="1764605"/>
            <a:ext cx="3803650" cy="92049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넣은 자료</a:t>
            </a:r>
            <a:endParaRPr lang="en-US" sz="1200" dirty="0"/>
          </a:p>
        </p:txBody>
      </p:sp>
      <p:sp>
        <p:nvSpPr>
          <p:cNvPr id="6" name="Text 4"/>
          <p:cNvSpPr/>
          <p:nvPr/>
        </p:nvSpPr>
        <p:spPr>
          <a:xfrm>
            <a:off x="971550" y="2130365"/>
            <a:ext cx="3597275"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실제로 일어난 변화: 2023 습한 해(수로 물 5% → 100%), 2024.12 수로 주변 취수 금지</a:t>
            </a:r>
            <a:endParaRPr lang="en-US" sz="1200" dirty="0"/>
          </a:p>
        </p:txBody>
      </p:sp>
      <p:sp>
        <p:nvSpPr>
          <p:cNvPr id="7" name="Shape 5"/>
          <p:cNvSpPr/>
          <p:nvPr/>
        </p:nvSpPr>
        <p:spPr>
          <a:xfrm>
            <a:off x="815975" y="2785685"/>
            <a:ext cx="3803650" cy="92049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290316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(보정)</a:t>
            </a:r>
            <a:endParaRPr lang="en-US" sz="1200" dirty="0"/>
          </a:p>
        </p:txBody>
      </p:sp>
      <p:sp>
        <p:nvSpPr>
          <p:cNvPr id="9" name="Text 7"/>
          <p:cNvSpPr/>
          <p:nvPr/>
        </p:nvSpPr>
        <p:spPr>
          <a:xfrm>
            <a:off x="971550" y="3151445"/>
            <a:ext cx="3597275"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검증 모델: 2022년까지 자료만. 두 사건 모두 보정 뒤의 미래</a:t>
            </a:r>
            <a:endParaRPr lang="en-US" sz="1200" dirty="0"/>
          </a:p>
        </p:txBody>
      </p:sp>
      <p:sp>
        <p:nvSpPr>
          <p:cNvPr id="10" name="Shape 8"/>
          <p:cNvSpPr/>
          <p:nvPr/>
        </p:nvSpPr>
        <p:spPr>
          <a:xfrm>
            <a:off x="812800" y="3806765"/>
            <a:ext cx="3810000" cy="920496"/>
          </a:xfrm>
          <a:prstGeom prst="roundRect">
            <a:avLst>
              <a:gd name="adj" fmla="val 12964"/>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a:t>
            </a:r>
            <a:endParaRPr lang="en-US" sz="1200" dirty="0"/>
          </a:p>
        </p:txBody>
      </p:sp>
      <p:sp>
        <p:nvSpPr>
          <p:cNvPr id="12" name="Text 10"/>
          <p:cNvSpPr/>
          <p:nvPr/>
        </p:nvSpPr>
        <p:spPr>
          <a:xfrm>
            <a:off x="965200" y="4172525"/>
            <a:ext cx="3610356"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수로 GPS 침하 속도의 변화, 같은 달 → 같은 달 1년 단위</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89500" y="1774130"/>
          <a:ext cx="6489700" cy="1796605"/>
        </p:xfrm>
        <a:graphic>
          <a:graphicData uri="http://schemas.openxmlformats.org/drawingml/2006/table">
            <a:tbl>
              <a:tblPr/>
              <a:tblGrid>
                <a:gridCol w="1946910">
                  <a:extLst>
                    <a:ext uri="{9D8B030D-6E8A-4147-A177-3AD203B41FA5}">
                      <a16:colId xmlns:a16="http://schemas.microsoft.com/office/drawing/2014/main" val="20000"/>
                    </a:ext>
                  </a:extLst>
                </a:gridCol>
                <a:gridCol w="1427734">
                  <a:extLst>
                    <a:ext uri="{9D8B030D-6E8A-4147-A177-3AD203B41FA5}">
                      <a16:colId xmlns:a16="http://schemas.microsoft.com/office/drawing/2014/main" val="20001"/>
                    </a:ext>
                  </a:extLst>
                </a:gridCol>
                <a:gridCol w="1687322">
                  <a:extLst>
                    <a:ext uri="{9D8B030D-6E8A-4147-A177-3AD203B41FA5}">
                      <a16:colId xmlns:a16="http://schemas.microsoft.com/office/drawing/2014/main" val="20002"/>
                    </a:ext>
                  </a:extLst>
                </a:gridCol>
                <a:gridCol w="1427734">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사건 · GPS</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GPS 변화</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모델 변화</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일치</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습한 해 · P544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−9.3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−9.0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크기까지</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금지 · P544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+1.5</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−11.9</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아니오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금지 · Q204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+0.6</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−4.0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아니오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금지 · Q208</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−4.0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아니오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11"/>
          <p:cNvSpPr/>
          <p:nvPr/>
        </p:nvSpPr>
        <p:spPr>
          <a:xfrm>
            <a:off x="4876800" y="3697734"/>
            <a:ext cx="669747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mm/년. 처음엔 1년 단위가 아닌 구간으로 재서 '크기 1/3', '금지 후 빨라짐'으로 보였다 → GPS 계절 변동을 발견하고 다시 테스트</a:t>
            </a:r>
            <a:endParaRPr lang="en-US" sz="1200" dirty="0"/>
          </a:p>
        </p:txBody>
      </p:sp>
      <p:sp>
        <p:nvSpPr>
          <p:cNvPr id="15" name="Text 12"/>
          <p:cNvSpPr/>
          <p:nvPr/>
        </p:nvSpPr>
        <p:spPr>
          <a:xfrm>
            <a:off x="4876800" y="4266654"/>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금지 후 위성에 안 보이는 취수가 있었을 가능성. 운영 모델로 역산하고(위성 추정의 1.36배), 위성만으로도 확인했다(이중차분 +2.9mm/년)</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90% 범위: 습한 해 −11.8~−6.1, 금지 P544 −15.0~−8.5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8 · 모델 구조 후보 6개</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모델 구조를 바꾸면 3년 예측이 좋아지나?</a:t>
            </a:r>
            <a:endParaRPr lang="en-US" sz="2600" dirty="0"/>
          </a:p>
        </p:txBody>
      </p:sp>
      <p:sp>
        <p:nvSpPr>
          <p:cNvPr id="4" name="Shape 2"/>
          <p:cNvSpPr/>
          <p:nvPr/>
        </p:nvSpPr>
        <p:spPr>
          <a:xfrm>
            <a:off x="815975" y="1764605"/>
            <a:ext cx="3803650" cy="113385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바꾼 것 (모델 구조)</a:t>
            </a:r>
            <a:endParaRPr lang="en-US" sz="1200" dirty="0"/>
          </a:p>
        </p:txBody>
      </p:sp>
      <p:sp>
        <p:nvSpPr>
          <p:cNvPr id="6" name="Text 4"/>
          <p:cNvSpPr/>
          <p:nvPr/>
        </p:nvSpPr>
        <p:spPr>
          <a:xfrm>
            <a:off x="971550" y="2130365"/>
            <a:ext cx="3597275" cy="65836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후보 6개: 코코란 점토도 지연 압밀 · 깊이별 취수 비율 · 탄성 압축 · 지연 압밀 9구역 · 수로 띠 압축 · 기본형</a:t>
            </a:r>
            <a:endParaRPr lang="en-US" sz="1200" dirty="0"/>
          </a:p>
        </p:txBody>
      </p:sp>
      <p:sp>
        <p:nvSpPr>
          <p:cNvPr id="7" name="Shape 5"/>
          <p:cNvSpPr/>
          <p:nvPr/>
        </p:nvSpPr>
        <p:spPr>
          <a:xfrm>
            <a:off x="815975" y="2999045"/>
            <a:ext cx="3803650" cy="707136"/>
          </a:xfrm>
          <a:prstGeom prst="roundRect">
            <a:avLst>
              <a:gd name="adj" fmla="val 12386"/>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311652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(보정)</a:t>
            </a:r>
            <a:endParaRPr lang="en-US" sz="1200" dirty="0"/>
          </a:p>
        </p:txBody>
      </p:sp>
      <p:sp>
        <p:nvSpPr>
          <p:cNvPr id="9" name="Text 7"/>
          <p:cNvSpPr/>
          <p:nvPr/>
        </p:nvSpPr>
        <p:spPr>
          <a:xfrm>
            <a:off x="971550" y="3364805"/>
            <a:ext cx="3597275" cy="23164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2015.7~2019.12 DWR 위성 + 관측정만</a:t>
            </a:r>
            <a:endParaRPr lang="en-US" sz="1200" dirty="0"/>
          </a:p>
        </p:txBody>
      </p:sp>
      <p:sp>
        <p:nvSpPr>
          <p:cNvPr id="10" name="Shape 8"/>
          <p:cNvSpPr/>
          <p:nvPr/>
        </p:nvSpPr>
        <p:spPr>
          <a:xfrm>
            <a:off x="812800" y="3806765"/>
            <a:ext cx="3810000" cy="920496"/>
          </a:xfrm>
          <a:prstGeom prst="roundRect">
            <a:avLst>
              <a:gd name="adj" fmla="val 9972"/>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 (연습 시험)</a:t>
            </a:r>
            <a:endParaRPr lang="en-US" sz="1200" dirty="0"/>
          </a:p>
        </p:txBody>
      </p:sp>
      <p:sp>
        <p:nvSpPr>
          <p:cNvPr id="12" name="Text 10"/>
          <p:cNvSpPr/>
          <p:nvPr/>
        </p:nvSpPr>
        <p:spPr>
          <a:xfrm>
            <a:off x="965200" y="4172525"/>
            <a:ext cx="3610356"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2020~2022 DWR 위성 침하, 수로 2km 칸. GPS 최종 시험은 아껴 둔다</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89500" y="1774130"/>
          <a:ext cx="6489700" cy="2515247"/>
        </p:xfrm>
        <a:graphic>
          <a:graphicData uri="http://schemas.openxmlformats.org/drawingml/2006/table">
            <a:tbl>
              <a:tblPr/>
              <a:tblGrid>
                <a:gridCol w="4023614">
                  <a:extLst>
                    <a:ext uri="{9D8B030D-6E8A-4147-A177-3AD203B41FA5}">
                      <a16:colId xmlns:a16="http://schemas.microsoft.com/office/drawing/2014/main" val="20000"/>
                    </a:ext>
                  </a:extLst>
                </a:gridCol>
                <a:gridCol w="2466086">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연습 시험 (당시 정답: DWR 위성)</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오차</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v3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25.1mm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후보 4개 (지연·깊이·탄성·기본)</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28.6~29.5mm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수로 띠 압축 (10/23)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43.3mm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지연 압밀 9구역</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47.7mm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(비교) 위성 추세 연장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27.2mm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(비교) 앞으로 안 꺼진다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17.0mm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4" name="Text 11"/>
          <p:cNvSpPr/>
          <p:nvPr/>
        </p:nvSpPr>
        <p:spPr>
          <a:xfrm>
            <a:off x="4876800" y="4416375"/>
            <a:ext cx="669747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이상한 점: '앞으로 안 꺼진다'가 1등. 대가뭄(2021~22)인데 침하가 멈췄다는 정답이 말이 되나?</a:t>
            </a:r>
            <a:endParaRPr lang="en-US" sz="1200" dirty="0"/>
          </a:p>
        </p:txBody>
      </p:sp>
      <p:sp>
        <p:nvSpPr>
          <p:cNvPr id="15" name="Text 12"/>
          <p:cNvSpPr/>
          <p:nvPr/>
        </p:nvSpPr>
        <p:spPr>
          <a:xfrm>
            <a:off x="4876800" y="4764336"/>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모델이 아니라 테스트 자료(DWR 위성)를 의심한다. 위성 자체를 GPS로 테스트해 본다 (실험 9)</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후보마다 맥에서 약 5분 · 보정을 더 잘 맞출수록 연습 시험은 나빠졌다(과적합 신호)</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9 · </a:t>
            </a:r>
            <a:r>
              <a:rPr lang="en-US" sz="1200" kern="0" spc="150" dirty="0" err="1">
                <a:solidFill>
                  <a:srgbClr val="2459C4"/>
                </a:solidFill>
                <a:latin typeface="IBM Plex Mono" pitchFamily="49" charset="0"/>
                <a:ea typeface="IBM Plex Mono" pitchFamily="49" charset="-122"/>
                <a:cs typeface="IBM Plex Mono" pitchFamily="49" charset="-120"/>
              </a:rPr>
              <a:t>정답</a:t>
            </a:r>
            <a:r>
              <a:rPr lang="en-US" sz="1200" kern="0" spc="150" dirty="0">
                <a:solidFill>
                  <a:srgbClr val="2459C4"/>
                </a:solidFill>
                <a:latin typeface="IBM Plex Mono" pitchFamily="49" charset="0"/>
                <a:ea typeface="IBM Plex Mono" pitchFamily="49" charset="-122"/>
                <a:cs typeface="IBM Plex Mono" pitchFamily="49" charset="-120"/>
              </a:rPr>
              <a:t> 자료 검사</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정답으로 쓴 위성 자료가 맞나? GPS로 먼저 테스트</a:t>
            </a:r>
            <a:endParaRPr lang="en-US" sz="2600" dirty="0"/>
          </a:p>
        </p:txBody>
      </p:sp>
      <p:sp>
        <p:nvSpPr>
          <p:cNvPr id="4" name="Shape 2"/>
          <p:cNvSpPr/>
          <p:nvPr/>
        </p:nvSpPr>
        <p:spPr>
          <a:xfrm>
            <a:off x="815975" y="1764605"/>
            <a:ext cx="3803650" cy="92049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바꾼 것 (정답 자료)</a:t>
            </a:r>
            <a:endParaRPr lang="en-US" sz="1200" dirty="0"/>
          </a:p>
        </p:txBody>
      </p:sp>
      <p:sp>
        <p:nvSpPr>
          <p:cNvPr id="6" name="Text 4"/>
          <p:cNvSpPr/>
          <p:nvPr/>
        </p:nvSpPr>
        <p:spPr>
          <a:xfrm>
            <a:off x="971550" y="2130365"/>
            <a:ext cx="3597275"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NASA OPERA 위성(상승·하강 궤도를 합쳐 수직 성분, 500m 칸)</a:t>
            </a:r>
            <a:endParaRPr lang="en-US" sz="1200" dirty="0"/>
          </a:p>
        </p:txBody>
      </p:sp>
      <p:sp>
        <p:nvSpPr>
          <p:cNvPr id="7" name="Shape 5"/>
          <p:cNvSpPr/>
          <p:nvPr/>
        </p:nvSpPr>
        <p:spPr>
          <a:xfrm>
            <a:off x="815975" y="2785685"/>
            <a:ext cx="3803650" cy="920496"/>
          </a:xfrm>
          <a:prstGeom prst="roundRect">
            <a:avLst>
              <a:gd name="adj" fmla="val 12386"/>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290316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(보정)</a:t>
            </a:r>
            <a:endParaRPr lang="en-US" sz="1200" dirty="0"/>
          </a:p>
        </p:txBody>
      </p:sp>
      <p:sp>
        <p:nvSpPr>
          <p:cNvPr id="9" name="Text 7"/>
          <p:cNvSpPr/>
          <p:nvPr/>
        </p:nvSpPr>
        <p:spPr>
          <a:xfrm>
            <a:off x="971550" y="3151445"/>
            <a:ext cx="3597275"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다시 보정하지 않음. 같은 예측을 정답만 바꿔 다시 테스트</a:t>
            </a:r>
            <a:endParaRPr lang="en-US" sz="1200" dirty="0"/>
          </a:p>
        </p:txBody>
      </p:sp>
      <p:sp>
        <p:nvSpPr>
          <p:cNvPr id="10" name="Shape 8"/>
          <p:cNvSpPr/>
          <p:nvPr/>
        </p:nvSpPr>
        <p:spPr>
          <a:xfrm>
            <a:off x="812800" y="3806765"/>
            <a:ext cx="3810000" cy="920496"/>
          </a:xfrm>
          <a:prstGeom prst="roundRect">
            <a:avLst>
              <a:gd name="adj" fmla="val 9972"/>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a:t>
            </a:r>
            <a:endParaRPr lang="en-US" sz="1200" dirty="0"/>
          </a:p>
        </p:txBody>
      </p:sp>
      <p:sp>
        <p:nvSpPr>
          <p:cNvPr id="12" name="Text 10"/>
          <p:cNvSpPr/>
          <p:nvPr/>
        </p:nvSpPr>
        <p:spPr>
          <a:xfrm>
            <a:off x="965200" y="4172525"/>
            <a:ext cx="3610356"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① 수로 GPS로 위성 두 개를 테스트 ② 통과한 위성으로 모델 다시 테스트</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89500" y="1774130"/>
          <a:ext cx="6489700" cy="1077963"/>
        </p:xfrm>
        <a:graphic>
          <a:graphicData uri="http://schemas.openxmlformats.org/drawingml/2006/table">
            <a:tbl>
              <a:tblPr/>
              <a:tblGrid>
                <a:gridCol w="2985262">
                  <a:extLst>
                    <a:ext uri="{9D8B030D-6E8A-4147-A177-3AD203B41FA5}">
                      <a16:colId xmlns:a16="http://schemas.microsoft.com/office/drawing/2014/main" val="20000"/>
                    </a:ext>
                  </a:extLst>
                </a:gridCol>
                <a:gridCol w="1168146">
                  <a:extLst>
                    <a:ext uri="{9D8B030D-6E8A-4147-A177-3AD203B41FA5}">
                      <a16:colId xmlns:a16="http://schemas.microsoft.com/office/drawing/2014/main" val="20001"/>
                    </a:ext>
                  </a:extLst>
                </a:gridCol>
                <a:gridCol w="1168146">
                  <a:extLst>
                    <a:ext uri="{9D8B030D-6E8A-4147-A177-3AD203B41FA5}">
                      <a16:colId xmlns:a16="http://schemas.microsoft.com/office/drawing/2014/main" val="20002"/>
                    </a:ext>
                  </a:extLst>
                </a:gridCol>
                <a:gridCol w="1168146">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① 위성 테스트</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GPS</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OPERA</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DWR</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P544 침하 2020~22</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27.8</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24.9</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13.6</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2023~26 방향 일치</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5/5</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3/5</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4" name="Table 1"/>
          <p:cNvGraphicFramePr>
            <a:graphicFrameLocks noGrp="1"/>
          </p:cNvGraphicFramePr>
          <p:nvPr>
            <p:extLst>
              <p:ext uri="{D42A27DB-BD31-4B8C-83A1-F6EECF244321}">
                <p14:modId xmlns:p14="http://schemas.microsoft.com/office/powerpoint/2010/main" val="1579011935"/>
              </p:ext>
            </p:extLst>
          </p:nvPr>
        </p:nvGraphicFramePr>
        <p:xfrm>
          <a:off x="4889500" y="2979093"/>
          <a:ext cx="6489700" cy="1437284"/>
        </p:xfrm>
        <a:graphic>
          <a:graphicData uri="http://schemas.openxmlformats.org/drawingml/2006/table">
            <a:tbl>
              <a:tblPr/>
              <a:tblGrid>
                <a:gridCol w="2985262">
                  <a:extLst>
                    <a:ext uri="{9D8B030D-6E8A-4147-A177-3AD203B41FA5}">
                      <a16:colId xmlns:a16="http://schemas.microsoft.com/office/drawing/2014/main" val="20000"/>
                    </a:ext>
                  </a:extLst>
                </a:gridCol>
                <a:gridCol w="1752219">
                  <a:extLst>
                    <a:ext uri="{9D8B030D-6E8A-4147-A177-3AD203B41FA5}">
                      <a16:colId xmlns:a16="http://schemas.microsoft.com/office/drawing/2014/main" val="20001"/>
                    </a:ext>
                  </a:extLst>
                </a:gridCol>
                <a:gridCol w="1752219">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② 연습 시험 다시 테스트 (수로 2km)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DWR 정답</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OPERA 정답</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v3 순위 (물리모델 7개 중)</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25.1 · 모델 중 1등</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14.0 · 모델 중 1등</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v3 편향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+17.9</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추세 연장 / 안 꺼진다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27.2 / 17.0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10.4 / 29.3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Text 11"/>
          <p:cNvSpPr/>
          <p:nvPr/>
        </p:nvSpPr>
        <p:spPr>
          <a:xfrm>
            <a:off x="4876800" y="4530675"/>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DWR 오류는 2020년 무렵부터. v3로 확정(과대예측은 자료 탓). 3년 누적은 여전히 추세가 정확 → 보완 시도 (실험 11)</a:t>
            </a:r>
            <a:endParaRPr lang="en-US" sz="1300" dirty="0"/>
          </a:p>
        </p:txBody>
      </p:sp>
      <p:sp>
        <p:nvSpPr>
          <p:cNvPr id="17" name="Added v3-opera"/>
          <p:cNvSpPr/>
          <p:nvPr/>
        </p:nvSpPr>
        <p:spPr>
          <a:xfrm>
            <a:off x="4892040" y="5413248"/>
            <a:ext cx="6483096" cy="45720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459C4"/>
                </a:solidFill>
                <a:latin typeface="IBM Plex Sans KR" pitchFamily="34" charset="0"/>
                <a:ea typeface="IBM Plex Sans KR" pitchFamily="34" charset="-122"/>
                <a:cs typeface="IBM Plex Sans KR" pitchFamily="34" charset="-120"/>
              </a:rPr>
              <a:t>추가 (10/22) </a:t>
            </a:r>
            <a:r>
              <a:rPr lang="en-US" sz="1200" dirty="0">
                <a:solidFill>
                  <a:srgbClr val="3C4656"/>
                </a:solidFill>
                <a:latin typeface="IBM Plex Sans KR" pitchFamily="34" charset="0"/>
                <a:ea typeface="IBM Plex Sans KR" pitchFamily="34" charset="-122"/>
                <a:cs typeface="IBM Plex Sans KR" pitchFamily="34" charset="-120"/>
              </a:rPr>
              <a:t>OPERA로 처음부터 다시 보정한 모델도 최종 시험 GPS 오차 21.8mm(v3 21.2mm). 위성 자료만 바꿔서는 3년 예측이 좋아지지 않았다 → 실험 11</a:t>
            </a:r>
            <a:endParaRPr lang="en-US" sz="1200" dirty="0"/>
          </a:p>
        </p:txBody>
      </p:sp>
      <p:sp>
        <p:nvSpPr>
          <p:cNvPr id="16"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단위 mm · GPS 대비 위성 오차 중앙값 OPERA 8.3, DWR 17.0mm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0">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11 · 3년 예측 보완 시도</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3년 예측을 추세 연장보다 정확하게 만들 수 있나?</a:t>
            </a:r>
            <a:endParaRPr lang="en-US" sz="2600" dirty="0"/>
          </a:p>
        </p:txBody>
      </p:sp>
      <p:sp>
        <p:nvSpPr>
          <p:cNvPr id="4" name="Shape 2"/>
          <p:cNvSpPr/>
          <p:nvPr/>
        </p:nvSpPr>
        <p:spPr>
          <a:xfrm>
            <a:off x="815975" y="1764605"/>
            <a:ext cx="3803650" cy="1133856"/>
          </a:xfrm>
          <a:prstGeom prst="roundRect">
            <a:avLst>
              <a:gd name="adj" fmla="val 776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바꾼 것 (예측 방법)</a:t>
            </a:r>
            <a:endParaRPr lang="en-US" sz="1200" dirty="0"/>
          </a:p>
        </p:txBody>
      </p:sp>
      <p:sp>
        <p:nvSpPr>
          <p:cNvPr id="6" name="Text 4"/>
          <p:cNvSpPr/>
          <p:nvPr/>
        </p:nvSpPr>
        <p:spPr>
          <a:xfrm>
            <a:off x="971550" y="2130365"/>
            <a:ext cx="3597275" cy="65836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① 결합: 위성 추세 + 모델이 예측한 변화 ② 칸별 보정: 1km 칸마다 '위성 ÷ 모델' 배수 ③ 불확실성의 구조 오차를 OPERA로 다시 재기</a:t>
            </a:r>
            <a:endParaRPr lang="en-US" sz="1200" dirty="0"/>
          </a:p>
        </p:txBody>
      </p:sp>
      <p:sp>
        <p:nvSpPr>
          <p:cNvPr id="7" name="Shape 5"/>
          <p:cNvSpPr/>
          <p:nvPr/>
        </p:nvSpPr>
        <p:spPr>
          <a:xfrm>
            <a:off x="815975" y="2999045"/>
            <a:ext cx="3803650" cy="707136"/>
          </a:xfrm>
          <a:prstGeom prst="roundRect">
            <a:avLst>
              <a:gd name="adj" fmla="val 12386"/>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311652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(보정)</a:t>
            </a:r>
            <a:endParaRPr lang="en-US" sz="1200" dirty="0"/>
          </a:p>
        </p:txBody>
      </p:sp>
      <p:sp>
        <p:nvSpPr>
          <p:cNvPr id="9" name="Text 7"/>
          <p:cNvSpPr/>
          <p:nvPr/>
        </p:nvSpPr>
        <p:spPr>
          <a:xfrm>
            <a:off x="971550" y="3364805"/>
            <a:ext cx="3597275" cy="23164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2019.12까지 보정한 같은 모델, 다시 보정 안 함</a:t>
            </a:r>
            <a:endParaRPr lang="en-US" sz="1200" dirty="0"/>
          </a:p>
        </p:txBody>
      </p:sp>
      <p:sp>
        <p:nvSpPr>
          <p:cNvPr id="10" name="Shape 8"/>
          <p:cNvSpPr/>
          <p:nvPr/>
        </p:nvSpPr>
        <p:spPr>
          <a:xfrm>
            <a:off x="812800" y="3806765"/>
            <a:ext cx="3810000" cy="920496"/>
          </a:xfrm>
          <a:prstGeom prst="roundRect">
            <a:avLst>
              <a:gd name="adj" fmla="val 9972"/>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a:t>
            </a:r>
            <a:endParaRPr lang="en-US" sz="1200" dirty="0"/>
          </a:p>
        </p:txBody>
      </p:sp>
      <p:sp>
        <p:nvSpPr>
          <p:cNvPr id="12" name="Text 10"/>
          <p:cNvSpPr/>
          <p:nvPr/>
        </p:nvSpPr>
        <p:spPr>
          <a:xfrm>
            <a:off x="965200" y="4172525"/>
            <a:ext cx="3610356"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연습 시험 OPERA 정답(수로 2km) + GPS P544. ③은 2023~26 GPS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89500" y="1774130"/>
          <a:ext cx="6489700" cy="1796605"/>
        </p:xfrm>
        <a:graphic>
          <a:graphicData uri="http://schemas.openxmlformats.org/drawingml/2006/table">
            <a:tbl>
              <a:tblPr/>
              <a:tblGrid>
                <a:gridCol w="3244850">
                  <a:extLst>
                    <a:ext uri="{9D8B030D-6E8A-4147-A177-3AD203B41FA5}">
                      <a16:colId xmlns:a16="http://schemas.microsoft.com/office/drawing/2014/main" val="20000"/>
                    </a:ext>
                  </a:extLst>
                </a:gridCol>
                <a:gridCol w="1622425">
                  <a:extLst>
                    <a:ext uri="{9D8B030D-6E8A-4147-A177-3AD203B41FA5}">
                      <a16:colId xmlns:a16="http://schemas.microsoft.com/office/drawing/2014/main" val="20001"/>
                    </a:ext>
                  </a:extLst>
                </a:gridCol>
                <a:gridCol w="1622425">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연습 시험 오차</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수로 2km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P544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물리모델 v3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14.0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21.0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① 결합</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15.2</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11.0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② 칸별 보정</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18.2</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5.2</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추세 연장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10.4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4.1</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4"/>
                  </a:ext>
                </a:extLst>
              </a:tr>
            </a:tbl>
          </a:graphicData>
        </a:graphic>
      </p:graphicFrame>
      <p:sp>
        <p:nvSpPr>
          <p:cNvPr id="14" name="Text 11"/>
          <p:cNvSpPr/>
          <p:nvPr/>
        </p:nvSpPr>
        <p:spPr>
          <a:xfrm>
            <a:off x="4876800" y="3685034"/>
            <a:ext cx="669747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③ 범위 폭 97 → 59mm로 좁아지지만 GPS 포함률 99 → 82%(90% 미달) → 기존 범위 유지. 원칙대로 최종 시험은 돌리지 않음</a:t>
            </a:r>
            <a:endParaRPr lang="en-US" sz="1200" dirty="0"/>
          </a:p>
        </p:txBody>
      </p:sp>
      <p:sp>
        <p:nvSpPr>
          <p:cNvPr id="15" name="Text 12"/>
          <p:cNvSpPr/>
          <p:nvPr/>
        </p:nvSpPr>
        <p:spPr>
          <a:xfrm>
            <a:off x="4876800" y="4241254"/>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원인은 칸마다 꺼지는 정도의 분포(P544 맞음). 다음: 칸별 점토 성질을 모델 안에서 위성·GPS로 함께 보정 → 연습 시험 → 최종 시험</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단위 mm · 그때까지 '지금처럼 하면' 전망은 위성 추세로, '취수를 바꾸면'은 물리모델로</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개발 결과 정리 · 맞출 때 안 쓴 자료로 테스트</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위성을 넣으면 오차가 3분의 1로, 취수 변화 효과도 맞혔다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84970"/>
          <a:ext cx="5702300" cy="2316066"/>
        </p:xfrm>
        <a:graphic>
          <a:graphicData uri="http://schemas.openxmlformats.org/drawingml/2006/table">
            <a:tbl>
              <a:tblPr/>
              <a:tblGrid>
                <a:gridCol w="3535426">
                  <a:extLst>
                    <a:ext uri="{9D8B030D-6E8A-4147-A177-3AD203B41FA5}">
                      <a16:colId xmlns:a16="http://schemas.microsoft.com/office/drawing/2014/main" val="20000"/>
                    </a:ext>
                  </a:extLst>
                </a:gridCol>
                <a:gridCol w="2166874">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예측 방법</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3년 누적 GPS 오차</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관측정 수위만</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70.9mm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관측정 + 위성</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21.2mm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관측정 + 위성 + 불확실성 범위</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22.6mm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8BDC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(비교) 변화 없다고 가정</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22.1mm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(비교) 과거 위성 추세 그대로</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7.2mm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402634"/>
            <a:ext cx="5886450" cy="658368"/>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2022년까지 자료로 모델을 맞추고, 맞출 때 안 쓴 2023~2026 수로 GPS 5곳으로 테스트했다. 모델 구조 후보 7개 중 1등.</a:t>
            </a:r>
            <a:endParaRPr lang="en-US" sz="1200" dirty="0"/>
          </a:p>
        </p:txBody>
      </p:sp>
      <p:sp>
        <p:nvSpPr>
          <p:cNvPr id="6" name="Text 3"/>
          <p:cNvSpPr/>
          <p:nvPr/>
        </p:nvSpPr>
        <p:spPr>
          <a:xfrm>
            <a:off x="6883400" y="1975104"/>
            <a:ext cx="463067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459C4"/>
                </a:solidFill>
                <a:latin typeface="IBM Plex Sans KR" pitchFamily="34" charset="0"/>
                <a:ea typeface="IBM Plex Sans KR" pitchFamily="34" charset="-122"/>
                <a:cs typeface="IBM Plex Sans KR" pitchFamily="34" charset="-120"/>
              </a:rPr>
              <a:t>3배</a:t>
            </a:r>
            <a:endParaRPr lang="en-US" sz="2200" dirty="0"/>
          </a:p>
        </p:txBody>
      </p:sp>
      <p:sp>
        <p:nvSpPr>
          <p:cNvPr id="7" name="Text 4"/>
          <p:cNvSpPr/>
          <p:nvPr/>
        </p:nvSpPr>
        <p:spPr>
          <a:xfrm>
            <a:off x="6883400" y="2404872"/>
            <a:ext cx="4630674" cy="48463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위성을 넣으면 오차가 70.9 → 21.2mm. 위성 없이는 땅속 점토 성질을 정하지 못한다</a:t>
            </a:r>
            <a:endParaRPr lang="en-US" sz="1300" dirty="0"/>
          </a:p>
        </p:txBody>
      </p:sp>
      <p:sp>
        <p:nvSpPr>
          <p:cNvPr id="8" name="Text 5"/>
          <p:cNvSpPr/>
          <p:nvPr/>
        </p:nvSpPr>
        <p:spPr>
          <a:xfrm>
            <a:off x="6883400" y="3017520"/>
            <a:ext cx="463067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459C4"/>
                </a:solidFill>
                <a:latin typeface="IBM Plex Sans KR" pitchFamily="34" charset="0"/>
                <a:ea typeface="IBM Plex Sans KR" pitchFamily="34" charset="-122"/>
                <a:cs typeface="IBM Plex Sans KR" pitchFamily="34" charset="-120"/>
              </a:rPr>
              <a:t>모델 −9.0  vs  GPS −9.3</a:t>
            </a:r>
            <a:endParaRPr lang="en-US" sz="2200" dirty="0"/>
          </a:p>
        </p:txBody>
      </p:sp>
      <p:sp>
        <p:nvSpPr>
          <p:cNvPr id="9" name="Text 6"/>
          <p:cNvSpPr/>
          <p:nvPr/>
        </p:nvSpPr>
        <p:spPr>
          <a:xfrm>
            <a:off x="6883400" y="3447288"/>
            <a:ext cx="4626864" cy="7315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2023년 비 많던 해의 침하 감속(mm/년). 취수가 바뀌었을 때의 효과를 크기까지 맞혔다. 단, 금지 후엔 감속을 예측했는데 실제론 줄지 않았다 → 1</a:t>
            </a:r>
            <a:r>
              <a:rPr lang="en-US" altLang="ko-KR" sz="1300" dirty="0">
                <a:solidFill>
                  <a:srgbClr val="3C4656"/>
                </a:solidFill>
                <a:latin typeface="IBM Plex Sans KR" pitchFamily="34" charset="0"/>
                <a:ea typeface="IBM Plex Sans KR" pitchFamily="34" charset="-122"/>
                <a:cs typeface="IBM Plex Sans KR" pitchFamily="34" charset="-120"/>
              </a:rPr>
              <a:t>4</a:t>
            </a:r>
            <a:r>
              <a:rPr lang="en-US" sz="1300" dirty="0">
                <a:solidFill>
                  <a:srgbClr val="3C4656"/>
                </a:solidFill>
                <a:latin typeface="IBM Plex Sans KR" pitchFamily="34" charset="0"/>
                <a:ea typeface="IBM Plex Sans KR" pitchFamily="34" charset="-122"/>
                <a:cs typeface="IBM Plex Sans KR" pitchFamily="34" charset="-120"/>
              </a:rPr>
              <a:t>번 장</a:t>
            </a:r>
            <a:endParaRPr lang="en-US" sz="1300" dirty="0"/>
          </a:p>
        </p:txBody>
      </p:sp>
      <p:sp>
        <p:nvSpPr>
          <p:cNvPr id="10" name="Text 7"/>
          <p:cNvSpPr/>
          <p:nvPr/>
        </p:nvSpPr>
        <p:spPr>
          <a:xfrm>
            <a:off x="6883400" y="4297680"/>
            <a:ext cx="463067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571A"/>
                </a:solidFill>
                <a:latin typeface="IBM Plex Sans KR" pitchFamily="34" charset="0"/>
                <a:ea typeface="IBM Plex Sans KR" pitchFamily="34" charset="-122"/>
                <a:cs typeface="IBM Plex Sans KR" pitchFamily="34" charset="-120"/>
              </a:rPr>
              <a:t>아직 못 이김</a:t>
            </a:r>
            <a:endParaRPr lang="en-US" sz="2200" dirty="0"/>
          </a:p>
        </p:txBody>
      </p:sp>
      <p:sp>
        <p:nvSpPr>
          <p:cNvPr id="11" name="Text 8"/>
          <p:cNvSpPr/>
          <p:nvPr/>
        </p:nvSpPr>
        <p:spPr>
          <a:xfrm>
            <a:off x="6883400" y="4727448"/>
            <a:ext cx="4630674" cy="7315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3년 누적량은 과거 추세 그대로(7.2mm)가 더 정확하다. 그래서 '지금처럼 하면'의 전망은 위성 추세로, '취수를 바꾸면'의 효과는 모델로 낸다</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모델: MODFLOW 6 + CSUB · 지층: USGS CVHM2 · 늦게 눌리는 점토, 2005~2015 과거 취수 이력 반영</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한계와 다음 할 일</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아직 틀리는 것을 먼저 말한다</a:t>
            </a:r>
            <a:endParaRPr lang="en-US" sz="3000" dirty="0"/>
          </a:p>
        </p:txBody>
      </p:sp>
      <p:sp>
        <p:nvSpPr>
          <p:cNvPr id="4" name="Text 2"/>
          <p:cNvSpPr/>
          <p:nvPr/>
        </p:nvSpPr>
        <p:spPr>
          <a:xfrm>
            <a:off x="812800" y="1972270"/>
            <a:ext cx="528472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2571A"/>
                </a:solidFill>
                <a:latin typeface="IBM Plex Sans KR" pitchFamily="34" charset="0"/>
                <a:ea typeface="IBM Plex Sans KR" pitchFamily="34" charset="-122"/>
                <a:cs typeface="IBM Plex Sans KR" pitchFamily="34" charset="-120"/>
              </a:rPr>
              <a:t>아직 틀리는 것</a:t>
            </a:r>
            <a:endParaRPr lang="en-US" sz="1600" dirty="0"/>
          </a:p>
        </p:txBody>
      </p:sp>
      <p:sp>
        <p:nvSpPr>
          <p:cNvPr id="5" name="Text 3"/>
          <p:cNvSpPr/>
          <p:nvPr/>
        </p:nvSpPr>
        <p:spPr>
          <a:xfrm>
            <a:off x="898144" y="2330400"/>
            <a:ext cx="5191760" cy="210312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3년 누적 예측은 단순 추세 연장(7.2mm)보다 부정확(21.2mm). GPS로 확인된 위성으로 다시 테스트해도 같다</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금지 후 '보이지 않는 취수'는 위성 자료에 따라 추정이 갈린다 → 단정하지 않고 '먼저 확인할 곳'으로만</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수로 GPS 계절 변동: GPS로 보는 판정은 1년 단위로만</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기준 0.5인치는 이웃 기관 값이고, 3개월로 나눠 쓰면 엄격한 편 · 신고 양수량은 우물 56개 중 5개</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계획 확인 앙상블은 15개: '100%'의 꼬리 위험은 더 늘려 확인해야</a:t>
            </a:r>
            <a:endParaRPr lang="en-US" sz="1300" dirty="0"/>
          </a:p>
        </p:txBody>
      </p:sp>
      <p:sp>
        <p:nvSpPr>
          <p:cNvPr id="6" name="Text 4"/>
          <p:cNvSpPr/>
          <p:nvPr/>
        </p:nvSpPr>
        <p:spPr>
          <a:xfrm>
            <a:off x="6248400" y="1972270"/>
            <a:ext cx="528472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459C4"/>
                </a:solidFill>
                <a:latin typeface="IBM Plex Sans KR" pitchFamily="34" charset="0"/>
                <a:ea typeface="IBM Plex Sans KR" pitchFamily="34" charset="-122"/>
                <a:cs typeface="IBM Plex Sans KR" pitchFamily="34" charset="-120"/>
              </a:rPr>
              <a:t>다음 할 일</a:t>
            </a:r>
            <a:endParaRPr lang="en-US" sz="1600" dirty="0"/>
          </a:p>
        </p:txBody>
      </p:sp>
      <p:sp>
        <p:nvSpPr>
          <p:cNvPr id="7" name="Text 5"/>
          <p:cNvSpPr/>
          <p:nvPr/>
        </p:nvSpPr>
        <p:spPr>
          <a:xfrm>
            <a:off x="6333744" y="2330400"/>
            <a:ext cx="5191760" cy="126365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3년 예측: 칸마다 다른 점토 성질을 모델 안에서 위성·GPS로 함께 보정</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고객 질문 메일 발송: WDWA GSA, DWR 수로 침하 사업(CASP)</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계획 확인 앙상블 구성원 늘리기(15 → 60개)</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두 번째 지역 자동 적용: Friant-Kern Canal 주변</a:t>
            </a:r>
            <a:endParaRPr lang="en-US" sz="1300" dirty="0"/>
          </a:p>
          <a:p>
            <a:pPr marL="168656" indent="-168656" algn="l">
              <a:lnSpc>
                <a:spcPts val="1950"/>
              </a:lnSpc>
              <a:buSzPct val="100000"/>
              <a:buChar char="•"/>
            </a:pPr>
            <a:r>
              <a:rPr lang="en-US" sz="1300" dirty="0">
                <a:solidFill>
                  <a:srgbClr val="3C4656"/>
                </a:solidFill>
                <a:latin typeface="IBM Plex Sans KR" pitchFamily="34" charset="0"/>
                <a:ea typeface="IBM Plex Sans KR" pitchFamily="34" charset="-122"/>
                <a:cs typeface="IBM Plex Sans KR" pitchFamily="34" charset="-120"/>
              </a:rPr>
              <a:t>국내: 농림위성 민간 개방·수자원위성 자료 일정 확인, 시범 협의</a:t>
            </a:r>
            <a:endParaRPr lang="en-US" sz="13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모든 정책·계획 숫자는 실제 자료로 보정한 모델 안의 시뮬레이션이다. 관측으로 확인한 것은 GPS 테스트와 위성 이중차분이다.</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고객 가치 ① 금지가 지켜지는가</a:t>
            </a:r>
            <a:endParaRPr lang="en-US" sz="1200" dirty="0"/>
          </a:p>
        </p:txBody>
      </p:sp>
      <p:sp>
        <p:nvSpPr>
          <p:cNvPr id="3" name="Text 1"/>
          <p:cNvSpPr>
            <a:spLocks noGrp="1"/>
          </p:cNvSpPr>
          <p:nvPr>
            <p:ph type="title"/>
          </p:nvPr>
        </p:nvSpPr>
        <p:spPr>
          <a:xfrm>
            <a:off x="812800" y="12547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금지 후에도 금지구역 안 취수가 계속됐을 가능성이 높다</a:t>
            </a:r>
            <a:endParaRPr lang="en-US" sz="3000" dirty="0"/>
          </a:p>
        </p:txBody>
      </p:sp>
      <p:sp>
        <p:nvSpPr>
          <p:cNvPr id="4" name="Shape 2"/>
          <p:cNvSpPr/>
          <p:nvPr/>
        </p:nvSpPr>
        <p:spPr>
          <a:xfrm>
            <a:off x="812800" y="1921470"/>
            <a:ext cx="7302500" cy="2387600"/>
          </a:xfrm>
          <a:prstGeom prst="roundRect">
            <a:avLst>
              <a:gd name="adj" fmla="val 3191"/>
            </a:avLst>
          </a:prstGeom>
          <a:solidFill>
            <a:srgbClr val="FCFCFB"/>
          </a:solidFill>
          <a:ln/>
        </p:spPr>
        <p:txBody>
          <a:bodyPr/>
          <a:lstStyle/>
          <a:p>
            <a:endParaRPr lang="ko-KR" altLang="en-US"/>
          </a:p>
        </p:txBody>
      </p:sp>
      <p:pic>
        <p:nvPicPr>
          <p:cNvPr id="5" name="Image 0" descr="NASA OPERA 위성 침하 속도 지도. 왼쪽: 금지 후 1년 속도, 수로(실선)와 금지구역 경계(점선), 초록 원은 금지구역 안에서 가장 빨리 꺼지는 칸. 오른쪽: 금지 전 1년 대비 변화, 수로 북쪽 금지구역 안팎이 더 빨리 꺼짐"/>
          <p:cNvPicPr>
            <a:picLocks noChangeAspect="1"/>
          </p:cNvPicPr>
          <p:nvPr/>
        </p:nvPicPr>
        <p:blipFill>
          <a:blip r:embed="rId3"/>
          <a:srcRect l="-21" r="-21"/>
          <a:stretch/>
        </p:blipFill>
        <p:spPr>
          <a:xfrm>
            <a:off x="812800" y="1921470"/>
            <a:ext cx="7302500" cy="2387600"/>
          </a:xfrm>
          <a:prstGeom prst="roundRect">
            <a:avLst>
              <a:gd name="adj" fmla="val 3191"/>
            </a:avLst>
          </a:prstGeom>
        </p:spPr>
      </p:pic>
      <p:sp>
        <p:nvSpPr>
          <p:cNvPr id="6" name="Text 3"/>
          <p:cNvSpPr/>
          <p:nvPr/>
        </p:nvSpPr>
        <p:spPr>
          <a:xfrm>
            <a:off x="812800" y="4410670"/>
            <a:ext cx="7521575"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C4656"/>
                </a:solidFill>
                <a:latin typeface="IBM Plex Sans KR" pitchFamily="34" charset="0"/>
                <a:ea typeface="IBM Plex Sans KR" pitchFamily="34" charset="-122"/>
                <a:cs typeface="IBM Plex Sans KR" pitchFamily="34" charset="-120"/>
              </a:rPr>
              <a:t>실선: 수로 · 점선: 금지구역 경계(수로 동쪽 4km) · 회색: 유전(제외) · 초록 원: 현장 확인 후보 10곳(금지 후 연 25~33mm)</a:t>
            </a:r>
            <a:endParaRPr lang="en-US" sz="1200" dirty="0"/>
          </a:p>
        </p:txBody>
      </p:sp>
      <p:sp>
        <p:nvSpPr>
          <p:cNvPr id="7" name="Text 4"/>
          <p:cNvSpPr/>
          <p:nvPr/>
        </p:nvSpPr>
        <p:spPr>
          <a:xfrm>
            <a:off x="8369300" y="1921470"/>
            <a:ext cx="310019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위성 관측만 · 금지 전 1년 → 후 1년 침하 속도 변화 (mm/년)</a:t>
            </a:r>
            <a:endParaRPr lang="en-US" sz="1300" dirty="0"/>
          </a:p>
        </p:txBody>
      </p:sp>
      <p:sp>
        <p:nvSpPr>
          <p:cNvPr id="8" name="Shape 5"/>
          <p:cNvSpPr/>
          <p:nvPr/>
        </p:nvSpPr>
        <p:spPr>
          <a:xfrm>
            <a:off x="8369300" y="3006626"/>
            <a:ext cx="3009900" cy="0"/>
          </a:xfrm>
          <a:prstGeom prst="line">
            <a:avLst/>
          </a:prstGeom>
          <a:noFill/>
          <a:ln w="6350">
            <a:solidFill>
              <a:srgbClr val="DAD6CB"/>
            </a:solidFill>
            <a:prstDash val="solid"/>
          </a:ln>
        </p:spPr>
        <p:txBody>
          <a:bodyPr/>
          <a:lstStyle/>
          <a:p>
            <a:endParaRPr lang="ko-KR" altLang="en-US"/>
          </a:p>
        </p:txBody>
      </p:sp>
      <p:sp>
        <p:nvSpPr>
          <p:cNvPr id="9" name="Text 6"/>
          <p:cNvSpPr/>
          <p:nvPr/>
        </p:nvSpPr>
        <p:spPr>
          <a:xfrm>
            <a:off x="8369300" y="2663130"/>
            <a:ext cx="10019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금지구역 안</a:t>
            </a:r>
            <a:endParaRPr lang="en-US" sz="1400" dirty="0"/>
          </a:p>
        </p:txBody>
      </p:sp>
      <p:sp>
        <p:nvSpPr>
          <p:cNvPr id="10" name="Text 7"/>
          <p:cNvSpPr/>
          <p:nvPr/>
        </p:nvSpPr>
        <p:spPr>
          <a:xfrm>
            <a:off x="10671731" y="2561530"/>
            <a:ext cx="707469"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1B2533"/>
                </a:solidFill>
                <a:latin typeface="IBM Plex Sans KR" pitchFamily="34" charset="0"/>
                <a:ea typeface="IBM Plex Sans KR" pitchFamily="34" charset="-122"/>
                <a:cs typeface="IBM Plex Sans KR" pitchFamily="34" charset="-120"/>
              </a:rPr>
              <a:t>+5.1</a:t>
            </a:r>
            <a:endParaRPr lang="en-US" sz="2200" dirty="0"/>
          </a:p>
        </p:txBody>
      </p:sp>
      <p:sp>
        <p:nvSpPr>
          <p:cNvPr id="11" name="Shape 8"/>
          <p:cNvSpPr/>
          <p:nvPr/>
        </p:nvSpPr>
        <p:spPr>
          <a:xfrm>
            <a:off x="8369300" y="3632696"/>
            <a:ext cx="3009900" cy="0"/>
          </a:xfrm>
          <a:prstGeom prst="line">
            <a:avLst/>
          </a:prstGeom>
          <a:noFill/>
          <a:ln w="6350">
            <a:solidFill>
              <a:srgbClr val="DAD6CB"/>
            </a:solidFill>
            <a:prstDash val="solid"/>
          </a:ln>
        </p:spPr>
        <p:txBody>
          <a:bodyPr/>
          <a:lstStyle/>
          <a:p>
            <a:endParaRPr lang="ko-KR" altLang="en-US"/>
          </a:p>
        </p:txBody>
      </p:sp>
      <p:sp>
        <p:nvSpPr>
          <p:cNvPr id="12" name="Text 9"/>
          <p:cNvSpPr/>
          <p:nvPr/>
        </p:nvSpPr>
        <p:spPr>
          <a:xfrm>
            <a:off x="8369300" y="3289201"/>
            <a:ext cx="100197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금지구역 밖</a:t>
            </a:r>
            <a:endParaRPr lang="en-US" sz="1400" dirty="0"/>
          </a:p>
        </p:txBody>
      </p:sp>
      <p:sp>
        <p:nvSpPr>
          <p:cNvPr id="13" name="Text 10"/>
          <p:cNvSpPr/>
          <p:nvPr/>
        </p:nvSpPr>
        <p:spPr>
          <a:xfrm>
            <a:off x="10671731" y="3187601"/>
            <a:ext cx="707469" cy="41652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1B2533"/>
                </a:solidFill>
                <a:latin typeface="IBM Plex Sans KR" pitchFamily="34" charset="0"/>
                <a:ea typeface="IBM Plex Sans KR" pitchFamily="34" charset="-122"/>
                <a:cs typeface="IBM Plex Sans KR" pitchFamily="34" charset="-120"/>
              </a:rPr>
              <a:t>+2.3</a:t>
            </a:r>
            <a:endParaRPr lang="en-US" sz="2200" dirty="0"/>
          </a:p>
        </p:txBody>
      </p:sp>
      <p:sp>
        <p:nvSpPr>
          <p:cNvPr id="14" name="Shape 11"/>
          <p:cNvSpPr/>
          <p:nvPr/>
        </p:nvSpPr>
        <p:spPr>
          <a:xfrm>
            <a:off x="8369300" y="3762871"/>
            <a:ext cx="3009900" cy="1234331"/>
          </a:xfrm>
          <a:prstGeom prst="roundRect">
            <a:avLst>
              <a:gd name="adj" fmla="val 8231"/>
            </a:avLst>
          </a:prstGeom>
          <a:solidFill>
            <a:srgbClr val="0E1A2B"/>
          </a:solidFill>
          <a:ln/>
        </p:spPr>
        <p:txBody>
          <a:bodyPr/>
          <a:lstStyle/>
          <a:p>
            <a:endParaRPr lang="ko-KR" altLang="en-US"/>
          </a:p>
        </p:txBody>
      </p:sp>
      <p:sp>
        <p:nvSpPr>
          <p:cNvPr id="15" name="Text 12"/>
          <p:cNvSpPr/>
          <p:nvPr/>
        </p:nvSpPr>
        <p:spPr>
          <a:xfrm>
            <a:off x="8547100" y="3915271"/>
            <a:ext cx="27339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KR" pitchFamily="34" charset="0"/>
                <a:ea typeface="IBM Plex Sans KR" pitchFamily="34" charset="-122"/>
                <a:cs typeface="IBM Plex Sans KR" pitchFamily="34" charset="-120"/>
              </a:rPr>
              <a:t>금지 효과 (안 − 밖)</a:t>
            </a:r>
            <a:endParaRPr lang="en-US" sz="1200" dirty="0"/>
          </a:p>
        </p:txBody>
      </p:sp>
      <p:sp>
        <p:nvSpPr>
          <p:cNvPr id="16" name="Text 13"/>
          <p:cNvSpPr/>
          <p:nvPr/>
        </p:nvSpPr>
        <p:spPr>
          <a:xfrm>
            <a:off x="8547100" y="4166691"/>
            <a:ext cx="2733929" cy="45209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F0A35E"/>
                </a:solidFill>
                <a:latin typeface="IBM Plex Sans KR" pitchFamily="34" charset="0"/>
                <a:ea typeface="IBM Plex Sans KR" pitchFamily="34" charset="-122"/>
                <a:cs typeface="IBM Plex Sans KR" pitchFamily="34" charset="-120"/>
              </a:rPr>
              <a:t>+2.9</a:t>
            </a:r>
            <a:endParaRPr lang="en-US" sz="3200" dirty="0"/>
          </a:p>
        </p:txBody>
      </p:sp>
      <p:sp>
        <p:nvSpPr>
          <p:cNvPr id="17" name="Text 14"/>
          <p:cNvSpPr/>
          <p:nvPr/>
        </p:nvSpPr>
        <p:spPr>
          <a:xfrm>
            <a:off x="8547100" y="4631482"/>
            <a:ext cx="27339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KR" pitchFamily="34" charset="0"/>
                <a:ea typeface="IBM Plex Sans KR" pitchFamily="34" charset="-122"/>
                <a:cs typeface="IBM Plex Sans KR" pitchFamily="34" charset="-120"/>
              </a:rPr>
              <a:t>90% 범위 +0.6 ~ +4.5</a:t>
            </a:r>
            <a:endParaRPr lang="en-US" sz="1200" dirty="0"/>
          </a:p>
        </p:txBody>
      </p:sp>
      <p:sp>
        <p:nvSpPr>
          <p:cNvPr id="18" name="Text 15"/>
          <p:cNvSpPr/>
          <p:nvPr/>
        </p:nvSpPr>
        <p:spPr>
          <a:xfrm>
            <a:off x="8369300" y="5124202"/>
            <a:ext cx="3100197" cy="676656"/>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C4656"/>
                </a:solidFill>
                <a:latin typeface="IBM Plex Sans KR" pitchFamily="34" charset="0"/>
                <a:ea typeface="IBM Plex Sans KR" pitchFamily="34" charset="-122"/>
                <a:cs typeface="IBM Plex Sans KR" pitchFamily="34" charset="-120"/>
              </a:rPr>
              <a:t>지켜졌다면 안쪽이 더 좋아졌어야 한다. 위반 확정이 아니라 초록 원 10곳을 '먼저 확인할 곳'으로 준다. 확정은 유량계로.</a:t>
            </a:r>
            <a:endParaRPr lang="en-US" sz="1200" dirty="0"/>
          </a:p>
        </p:txBody>
      </p:sp>
      <p:sp>
        <p:nvSpPr>
          <p:cNvPr id="20" name="Attr label"/>
          <p:cNvSpPr/>
          <p:nvPr/>
        </p:nvSpPr>
        <p:spPr>
          <a:xfrm>
            <a:off x="813816" y="4956048"/>
            <a:ext cx="7315200" cy="256032"/>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0E1A2B"/>
                </a:solidFill>
                <a:latin typeface="IBM Plex Sans KR" pitchFamily="34" charset="0"/>
                <a:ea typeface="IBM Plex Sans KR" pitchFamily="34" charset="-122"/>
                <a:cs typeface="IBM Plex Sans KR" pitchFamily="34" charset="-120"/>
              </a:rPr>
              <a:t>모델로 나눈 금지 후 수로 침하</a:t>
            </a:r>
            <a:r>
              <a:rPr lang="en-US" sz="1200" dirty="0">
                <a:solidFill>
                  <a:srgbClr val="3C4656"/>
                </a:solidFill>
                <a:latin typeface="IBM Plex Sans KR" pitchFamily="34" charset="0"/>
                <a:ea typeface="IBM Plex Sans KR" pitchFamily="34" charset="-122"/>
                <a:cs typeface="IBM Plex Sans KR" pitchFamily="34" charset="-120"/>
              </a:rPr>
              <a:t> (mm/년, 앙상블 중앙값이라 합이 딱 맞지는 않음)</a:t>
            </a:r>
            <a:endParaRPr lang="en-US" sz="1200" dirty="0"/>
          </a:p>
        </p:txBody>
      </p:sp>
      <p:sp>
        <p:nvSpPr>
          <p:cNvPr id="21" name="Attr big 0"/>
          <p:cNvSpPr/>
          <p:nvPr/>
        </p:nvSpPr>
        <p:spPr>
          <a:xfrm>
            <a:off x="813816" y="5266944"/>
            <a:ext cx="1371600" cy="402336"/>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E1A2B"/>
                </a:solidFill>
                <a:latin typeface="IBM Plex Sans KR" pitchFamily="34" charset="0"/>
                <a:ea typeface="IBM Plex Sans KR" pitchFamily="34" charset="-122"/>
                <a:cs typeface="IBM Plex Sans KR" pitchFamily="34" charset="-120"/>
              </a:rPr>
              <a:t>10.1</a:t>
            </a:r>
            <a:endParaRPr lang="en-US" sz="2200" dirty="0"/>
          </a:p>
        </p:txBody>
      </p:sp>
      <p:sp>
        <p:nvSpPr>
          <p:cNvPr id="22" name="Attr lab 0"/>
          <p:cNvSpPr/>
          <p:nvPr/>
        </p:nvSpPr>
        <p:spPr>
          <a:xfrm>
            <a:off x="813816" y="5687568"/>
            <a:ext cx="1417320" cy="24688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656"/>
                </a:solidFill>
                <a:latin typeface="IBM Plex Sans KR" pitchFamily="34" charset="0"/>
                <a:ea typeface="IBM Plex Sans KR" pitchFamily="34" charset="-122"/>
                <a:cs typeface="IBM Plex Sans KR" pitchFamily="34" charset="-120"/>
              </a:rPr>
              <a:t>추정 실제 침하</a:t>
            </a:r>
            <a:endParaRPr lang="en-US" sz="1400" dirty="0"/>
          </a:p>
        </p:txBody>
      </p:sp>
      <p:sp>
        <p:nvSpPr>
          <p:cNvPr id="23" name="Attr big 1"/>
          <p:cNvSpPr/>
          <p:nvPr/>
        </p:nvSpPr>
        <p:spPr>
          <a:xfrm>
            <a:off x="2276856" y="5266944"/>
            <a:ext cx="1371600" cy="402336"/>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6B7480"/>
                </a:solidFill>
                <a:latin typeface="IBM Plex Sans KR" pitchFamily="34" charset="0"/>
                <a:ea typeface="IBM Plex Sans KR" pitchFamily="34" charset="-122"/>
                <a:cs typeface="IBM Plex Sans KR" pitchFamily="34" charset="-120"/>
              </a:rPr>
              <a:t>−5.0</a:t>
            </a:r>
            <a:endParaRPr lang="en-US" sz="2200" dirty="0"/>
          </a:p>
        </p:txBody>
      </p:sp>
      <p:sp>
        <p:nvSpPr>
          <p:cNvPr id="24" name="Attr lab 1"/>
          <p:cNvSpPr/>
          <p:nvPr/>
        </p:nvSpPr>
        <p:spPr>
          <a:xfrm>
            <a:off x="2276856" y="5687568"/>
            <a:ext cx="1417320" cy="24688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656"/>
                </a:solidFill>
                <a:latin typeface="IBM Plex Sans KR" pitchFamily="34" charset="0"/>
                <a:ea typeface="IBM Plex Sans KR" pitchFamily="34" charset="-122"/>
                <a:cs typeface="IBM Plex Sans KR" pitchFamily="34" charset="-120"/>
              </a:rPr>
              <a:t>과거 취수 영향</a:t>
            </a:r>
            <a:endParaRPr lang="en-US" sz="1400" dirty="0"/>
          </a:p>
        </p:txBody>
      </p:sp>
      <p:sp>
        <p:nvSpPr>
          <p:cNvPr id="25" name="Attr big 2"/>
          <p:cNvSpPr/>
          <p:nvPr/>
        </p:nvSpPr>
        <p:spPr>
          <a:xfrm>
            <a:off x="3739896" y="5266944"/>
            <a:ext cx="1371600" cy="402336"/>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E1A2B"/>
                </a:solidFill>
                <a:latin typeface="IBM Plex Sans KR" pitchFamily="34" charset="0"/>
                <a:ea typeface="IBM Plex Sans KR" pitchFamily="34" charset="-122"/>
                <a:cs typeface="IBM Plex Sans KR" pitchFamily="34" charset="-120"/>
              </a:rPr>
              <a:t>+4.7</a:t>
            </a:r>
            <a:endParaRPr lang="en-US" sz="2200" dirty="0"/>
          </a:p>
        </p:txBody>
      </p:sp>
      <p:sp>
        <p:nvSpPr>
          <p:cNvPr id="26" name="Attr lab 2"/>
          <p:cNvSpPr/>
          <p:nvPr/>
        </p:nvSpPr>
        <p:spPr>
          <a:xfrm>
            <a:off x="3739896" y="5687568"/>
            <a:ext cx="1417320" cy="24688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656"/>
                </a:solidFill>
                <a:latin typeface="IBM Plex Sans KR" pitchFamily="34" charset="0"/>
                <a:ea typeface="IBM Plex Sans KR" pitchFamily="34" charset="-122"/>
                <a:cs typeface="IBM Plex Sans KR" pitchFamily="34" charset="-120"/>
              </a:rPr>
              <a:t>금지구역 밖 취수</a:t>
            </a:r>
            <a:endParaRPr lang="en-US" sz="1400" dirty="0"/>
          </a:p>
        </p:txBody>
      </p:sp>
      <p:sp>
        <p:nvSpPr>
          <p:cNvPr id="27" name="Attr big 3"/>
          <p:cNvSpPr/>
          <p:nvPr/>
        </p:nvSpPr>
        <p:spPr>
          <a:xfrm>
            <a:off x="5202936" y="5266944"/>
            <a:ext cx="1371600" cy="402336"/>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571A"/>
                </a:solidFill>
                <a:latin typeface="IBM Plex Sans KR" pitchFamily="34" charset="0"/>
                <a:ea typeface="IBM Plex Sans KR" pitchFamily="34" charset="-122"/>
                <a:cs typeface="IBM Plex Sans KR" pitchFamily="34" charset="-120"/>
              </a:rPr>
              <a:t>+9.9</a:t>
            </a:r>
            <a:endParaRPr lang="en-US" sz="2200" dirty="0"/>
          </a:p>
        </p:txBody>
      </p:sp>
      <p:sp>
        <p:nvSpPr>
          <p:cNvPr id="28" name="Attr lab 3"/>
          <p:cNvSpPr/>
          <p:nvPr/>
        </p:nvSpPr>
        <p:spPr>
          <a:xfrm>
            <a:off x="5202936" y="5687568"/>
            <a:ext cx="1417320" cy="24688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656"/>
                </a:solidFill>
                <a:latin typeface="IBM Plex Sans KR" pitchFamily="34" charset="0"/>
                <a:ea typeface="IBM Plex Sans KR" pitchFamily="34" charset="-122"/>
                <a:cs typeface="IBM Plex Sans KR" pitchFamily="34" charset="-120"/>
              </a:rPr>
              <a:t>금지구역 안 취수</a:t>
            </a:r>
            <a:endParaRPr lang="en-US" sz="1400" dirty="0"/>
          </a:p>
        </p:txBody>
      </p:sp>
      <p:sp>
        <p:nvSpPr>
          <p:cNvPr id="29" name="Attr big 4"/>
          <p:cNvSpPr/>
          <p:nvPr/>
        </p:nvSpPr>
        <p:spPr>
          <a:xfrm>
            <a:off x="6665976" y="5266944"/>
            <a:ext cx="1371600" cy="402336"/>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459C4"/>
                </a:solidFill>
                <a:latin typeface="IBM Plex Sans KR" pitchFamily="34" charset="0"/>
                <a:ea typeface="IBM Plex Sans KR" pitchFamily="34" charset="-122"/>
                <a:cs typeface="IBM Plex Sans KR" pitchFamily="34" charset="-120"/>
              </a:rPr>
              <a:t>약 0</a:t>
            </a:r>
            <a:endParaRPr lang="en-US" sz="2200" dirty="0"/>
          </a:p>
        </p:txBody>
      </p:sp>
      <p:sp>
        <p:nvSpPr>
          <p:cNvPr id="30" name="Attr lab 4"/>
          <p:cNvSpPr/>
          <p:nvPr/>
        </p:nvSpPr>
        <p:spPr>
          <a:xfrm>
            <a:off x="6665976" y="5687568"/>
            <a:ext cx="1417320" cy="24688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656"/>
                </a:solidFill>
                <a:latin typeface="IBM Plex Sans KR" pitchFamily="34" charset="0"/>
                <a:ea typeface="IBM Plex Sans KR" pitchFamily="34" charset="-122"/>
                <a:cs typeface="IBM Plex Sans KR" pitchFamily="34" charset="-120"/>
              </a:rPr>
              <a:t>다 지켰다면</a:t>
            </a:r>
            <a:endParaRPr lang="en-US" sz="14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위성: NASA OPERA, 금지 전 1년 vs 후 1년(수로 물 배분율 40%·50%) · 금지 효과 = 1km </a:t>
            </a:r>
            <a:r>
              <a:rPr lang="en-US" sz="1200" dirty="0" err="1">
                <a:solidFill>
                  <a:srgbClr val="6B7480"/>
                </a:solidFill>
                <a:latin typeface="IBM Plex Sans KR" pitchFamily="34" charset="0"/>
                <a:ea typeface="IBM Plex Sans KR" pitchFamily="34" charset="-122"/>
                <a:cs typeface="IBM Plex Sans KR" pitchFamily="34" charset="-120"/>
              </a:rPr>
              <a:t>묶음별</a:t>
            </a:r>
            <a:r>
              <a:rPr lang="en-US" sz="1200" dirty="0">
                <a:solidFill>
                  <a:srgbClr val="6B7480"/>
                </a:solidFill>
                <a:latin typeface="IBM Plex Sans KR" pitchFamily="34" charset="0"/>
                <a:ea typeface="IBM Plex Sans KR" pitchFamily="34" charset="-122"/>
                <a:cs typeface="IBM Plex Sans KR" pitchFamily="34" charset="-120"/>
              </a:rPr>
              <a:t> </a:t>
            </a:r>
            <a:r>
              <a:rPr lang="en-US" sz="1200" dirty="0" err="1">
                <a:solidFill>
                  <a:srgbClr val="6B7480"/>
                </a:solidFill>
                <a:latin typeface="IBM Plex Sans KR" pitchFamily="34" charset="0"/>
                <a:ea typeface="IBM Plex Sans KR" pitchFamily="34" charset="-122"/>
                <a:cs typeface="IBM Plex Sans KR" pitchFamily="34" charset="-120"/>
              </a:rPr>
              <a:t>차이의</a:t>
            </a:r>
            <a:r>
              <a:rPr lang="ko-KR" altLang="en-US" sz="1200" dirty="0">
                <a:solidFill>
                  <a:srgbClr val="6B7480"/>
                </a:solidFill>
                <a:latin typeface="IBM Plex Sans KR" pitchFamily="34" charset="0"/>
                <a:ea typeface="IBM Plex Sans KR" pitchFamily="34" charset="-122"/>
                <a:cs typeface="IBM Plex Sans KR" pitchFamily="34" charset="-120"/>
              </a:rPr>
              <a:t> 중앙값</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고객 가치 ② 지금 금지로 충분한가</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금지를 다 지켜도, 평년엔 수로 절반이 기준을 넘는다</a:t>
            </a:r>
            <a:endParaRPr lang="en-US" sz="3000" dirty="0"/>
          </a:p>
        </p:txBody>
      </p:sp>
      <p:sp>
        <p:nvSpPr>
          <p:cNvPr id="4" name="Shape 2"/>
          <p:cNvSpPr/>
          <p:nvPr/>
        </p:nvSpPr>
        <p:spPr>
          <a:xfrm>
            <a:off x="815975" y="1975445"/>
            <a:ext cx="3380284" cy="1840210"/>
          </a:xfrm>
          <a:prstGeom prst="roundRect">
            <a:avLst>
              <a:gd name="adj" fmla="val 5349"/>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1073150" y="2232620"/>
            <a:ext cx="295191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습한 해 (−1.5°C, 배분율 45%)</a:t>
            </a:r>
            <a:endParaRPr lang="en-US" sz="1300" dirty="0"/>
          </a:p>
        </p:txBody>
      </p:sp>
      <p:sp>
        <p:nvSpPr>
          <p:cNvPr id="6" name="Text 4"/>
          <p:cNvSpPr/>
          <p:nvPr/>
        </p:nvSpPr>
        <p:spPr>
          <a:xfrm>
            <a:off x="1073150" y="2596896"/>
            <a:ext cx="2951912" cy="786384"/>
          </a:xfrm>
          <a:prstGeom prst="rect">
            <a:avLst/>
          </a:prstGeom>
          <a:noFill/>
          <a:ln/>
        </p:spPr>
        <p:txBody>
          <a:bodyPr wrap="square" lIns="0" tIns="0" rIns="0" bIns="0" rtlCol="0" anchor="t">
            <a:normAutofit/>
          </a:bodyPr>
          <a:lstStyle/>
          <a:p>
            <a:pPr marL="0" indent="0" algn="l">
              <a:lnSpc>
                <a:spcPts val="6200"/>
              </a:lnSpc>
              <a:buNone/>
            </a:pPr>
            <a:r>
              <a:rPr lang="en-US" sz="5400" b="1" dirty="0">
                <a:solidFill>
                  <a:srgbClr val="0E1A2B"/>
                </a:solidFill>
                <a:latin typeface="IBM Plex Sans KR" pitchFamily="34" charset="0"/>
                <a:ea typeface="IBM Plex Sans KR" pitchFamily="34" charset="-122"/>
                <a:cs typeface="IBM Plex Sans KR" pitchFamily="34" charset="-120"/>
              </a:rPr>
              <a:t>76%</a:t>
            </a:r>
            <a:endParaRPr lang="en-US" sz="6000" dirty="0"/>
          </a:p>
        </p:txBody>
      </p:sp>
      <p:sp>
        <p:nvSpPr>
          <p:cNvPr id="7" name="Text 5"/>
          <p:cNvSpPr/>
          <p:nvPr/>
        </p:nvSpPr>
        <p:spPr>
          <a:xfrm>
            <a:off x="1073150" y="3327350"/>
            <a:ext cx="311993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기준 지키는 수로 지점 · 금지 비용 $19.8M</a:t>
            </a:r>
            <a:endParaRPr lang="en-US" sz="1300" dirty="0"/>
          </a:p>
        </p:txBody>
      </p:sp>
      <p:sp>
        <p:nvSpPr>
          <p:cNvPr id="8" name="Shape 6"/>
          <p:cNvSpPr/>
          <p:nvPr/>
        </p:nvSpPr>
        <p:spPr>
          <a:xfrm>
            <a:off x="4405809" y="1975445"/>
            <a:ext cx="3380333" cy="1840210"/>
          </a:xfrm>
          <a:prstGeom prst="roundRect">
            <a:avLst>
              <a:gd name="adj" fmla="val 5349"/>
            </a:avLst>
          </a:prstGeom>
          <a:solidFill>
            <a:srgbClr val="FBFAF6"/>
          </a:solidFill>
          <a:ln w="6350">
            <a:solidFill>
              <a:srgbClr val="DAD6CB"/>
            </a:solidFill>
            <a:prstDash val="solid"/>
          </a:ln>
        </p:spPr>
        <p:txBody>
          <a:bodyPr/>
          <a:lstStyle/>
          <a:p>
            <a:endParaRPr lang="ko-KR" altLang="en-US"/>
          </a:p>
        </p:txBody>
      </p:sp>
      <p:sp>
        <p:nvSpPr>
          <p:cNvPr id="9" name="Text 7"/>
          <p:cNvSpPr/>
          <p:nvPr/>
        </p:nvSpPr>
        <p:spPr>
          <a:xfrm>
            <a:off x="4662984" y="2232620"/>
            <a:ext cx="295196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평년 (배분율 30%)</a:t>
            </a:r>
            <a:endParaRPr lang="en-US" sz="1300" dirty="0"/>
          </a:p>
        </p:txBody>
      </p:sp>
      <p:sp>
        <p:nvSpPr>
          <p:cNvPr id="10" name="Text 8"/>
          <p:cNvSpPr/>
          <p:nvPr/>
        </p:nvSpPr>
        <p:spPr>
          <a:xfrm>
            <a:off x="4662984" y="2596896"/>
            <a:ext cx="2951963" cy="786384"/>
          </a:xfrm>
          <a:prstGeom prst="rect">
            <a:avLst/>
          </a:prstGeom>
          <a:noFill/>
          <a:ln/>
        </p:spPr>
        <p:txBody>
          <a:bodyPr wrap="square" lIns="0" tIns="0" rIns="0" bIns="0" rtlCol="0" anchor="t">
            <a:normAutofit/>
          </a:bodyPr>
          <a:lstStyle/>
          <a:p>
            <a:pPr marL="0" indent="0" algn="l">
              <a:lnSpc>
                <a:spcPts val="6200"/>
              </a:lnSpc>
              <a:buNone/>
            </a:pPr>
            <a:r>
              <a:rPr lang="en-US" sz="5400" b="1" dirty="0">
                <a:solidFill>
                  <a:srgbClr val="C2571A"/>
                </a:solidFill>
                <a:latin typeface="IBM Plex Sans KR" pitchFamily="34" charset="0"/>
                <a:ea typeface="IBM Plex Sans KR" pitchFamily="34" charset="-122"/>
                <a:cs typeface="IBM Plex Sans KR" pitchFamily="34" charset="-120"/>
              </a:rPr>
              <a:t>45%</a:t>
            </a:r>
            <a:endParaRPr lang="en-US" sz="6000" dirty="0"/>
          </a:p>
        </p:txBody>
      </p:sp>
      <p:sp>
        <p:nvSpPr>
          <p:cNvPr id="11" name="Text 9"/>
          <p:cNvSpPr/>
          <p:nvPr/>
        </p:nvSpPr>
        <p:spPr>
          <a:xfrm>
            <a:off x="4662984" y="3327350"/>
            <a:ext cx="311998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기준 지키는 수로 지점 · 금지 비용 $23.2M</a:t>
            </a:r>
            <a:endParaRPr lang="en-US" sz="1300" dirty="0"/>
          </a:p>
        </p:txBody>
      </p:sp>
      <p:sp>
        <p:nvSpPr>
          <p:cNvPr id="12" name="Shape 10"/>
          <p:cNvSpPr/>
          <p:nvPr/>
        </p:nvSpPr>
        <p:spPr>
          <a:xfrm>
            <a:off x="7995692" y="1975445"/>
            <a:ext cx="3380284" cy="1840210"/>
          </a:xfrm>
          <a:prstGeom prst="roundRect">
            <a:avLst>
              <a:gd name="adj" fmla="val 5349"/>
            </a:avLst>
          </a:prstGeom>
          <a:solidFill>
            <a:srgbClr val="FBFAF6"/>
          </a:solidFill>
          <a:ln w="6350">
            <a:solidFill>
              <a:srgbClr val="DAD6CB"/>
            </a:solidFill>
            <a:prstDash val="solid"/>
          </a:ln>
        </p:spPr>
        <p:txBody>
          <a:bodyPr/>
          <a:lstStyle/>
          <a:p>
            <a:endParaRPr lang="ko-KR" altLang="en-US"/>
          </a:p>
        </p:txBody>
      </p:sp>
      <p:sp>
        <p:nvSpPr>
          <p:cNvPr id="13" name="Text 11"/>
          <p:cNvSpPr/>
          <p:nvPr/>
        </p:nvSpPr>
        <p:spPr>
          <a:xfrm>
            <a:off x="8252867" y="2232620"/>
            <a:ext cx="295191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가뭄·폭염 (+2.5°C, 배분율 15%)</a:t>
            </a:r>
            <a:endParaRPr lang="en-US" sz="1300" dirty="0"/>
          </a:p>
        </p:txBody>
      </p:sp>
      <p:sp>
        <p:nvSpPr>
          <p:cNvPr id="14" name="Text 12"/>
          <p:cNvSpPr/>
          <p:nvPr/>
        </p:nvSpPr>
        <p:spPr>
          <a:xfrm>
            <a:off x="8252867" y="2596896"/>
            <a:ext cx="2951912" cy="786384"/>
          </a:xfrm>
          <a:prstGeom prst="rect">
            <a:avLst/>
          </a:prstGeom>
          <a:noFill/>
          <a:ln/>
        </p:spPr>
        <p:txBody>
          <a:bodyPr wrap="square" lIns="0" tIns="0" rIns="0" bIns="0" rtlCol="0" anchor="t">
            <a:normAutofit/>
          </a:bodyPr>
          <a:lstStyle/>
          <a:p>
            <a:pPr marL="0" indent="0" algn="l">
              <a:lnSpc>
                <a:spcPts val="6200"/>
              </a:lnSpc>
              <a:buNone/>
            </a:pPr>
            <a:r>
              <a:rPr lang="en-US" sz="5400" b="1" dirty="0">
                <a:solidFill>
                  <a:srgbClr val="C2571A"/>
                </a:solidFill>
                <a:latin typeface="IBM Plex Sans KR" pitchFamily="34" charset="0"/>
                <a:ea typeface="IBM Plex Sans KR" pitchFamily="34" charset="-122"/>
                <a:cs typeface="IBM Plex Sans KR" pitchFamily="34" charset="-120"/>
              </a:rPr>
              <a:t>32%</a:t>
            </a:r>
            <a:endParaRPr lang="en-US" sz="6000" dirty="0"/>
          </a:p>
        </p:txBody>
      </p:sp>
      <p:sp>
        <p:nvSpPr>
          <p:cNvPr id="15" name="Text 13"/>
          <p:cNvSpPr/>
          <p:nvPr/>
        </p:nvSpPr>
        <p:spPr>
          <a:xfrm>
            <a:off x="8252867" y="3327350"/>
            <a:ext cx="311993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기준 지키는 수로 지점 · 금지 비용 $27.9M</a:t>
            </a:r>
            <a:endParaRPr lang="en-US" sz="1300" dirty="0"/>
          </a:p>
        </p:txBody>
      </p:sp>
      <p:sp>
        <p:nvSpPr>
          <p:cNvPr id="16" name="Text 14"/>
          <p:cNvSpPr/>
          <p:nvPr/>
        </p:nvSpPr>
        <p:spPr>
          <a:xfrm>
            <a:off x="812800" y="4072830"/>
            <a:ext cx="6514338"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C4656"/>
                </a:solidFill>
                <a:latin typeface="IBM Plex Sans KR" pitchFamily="34" charset="0"/>
                <a:ea typeface="IBM Plex Sans KR" pitchFamily="34" charset="-122"/>
                <a:cs typeface="IBM Plex Sans KR" pitchFamily="34" charset="-120"/>
              </a:rPr>
              <a:t>수로 평균으로는 '다 지키면 거의 멈춤'(앞 장)이지만, 침하가 몰리는 여름 관개기를 지점별로 보면 부족하다. 가뭄일수록 금지구역 밖 취수가 늘어 수로를 끌어내린다.</a:t>
            </a:r>
            <a:endParaRPr lang="en-US" sz="1400" dirty="0"/>
          </a:p>
        </p:txBody>
      </p:sp>
      <p:sp>
        <p:nvSpPr>
          <p:cNvPr id="17" name="Text 15"/>
          <p:cNvSpPr/>
          <p:nvPr/>
        </p:nvSpPr>
        <p:spPr>
          <a:xfrm>
            <a:off x="7442200" y="4072830"/>
            <a:ext cx="4055110" cy="11430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C4656"/>
                </a:solidFill>
                <a:latin typeface="IBM Plex Sans KR" pitchFamily="34" charset="0"/>
                <a:ea typeface="IBM Plex Sans KR" pitchFamily="34" charset="-122"/>
                <a:cs typeface="IBM Plex Sans KR" pitchFamily="34" charset="-120"/>
              </a:rPr>
              <a:t>기준: 연 0.5인치를 3개월로 나눈 3.2mm. 여름에 침하가 몰려 엄격한 편이다. 18개월로 본 2021~22 대가뭄 재현에서는 금지로 모든 지점이 기준 안(동시 달성 확률 70%).</a:t>
            </a:r>
            <a:endParaRPr lang="en-US" sz="14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4km 금지를 완전히 지킨다고 가정 · 실제 신고 농업용 우물 56개 · 비용 = 줄인 취수만큼 대체 용수 구입($0.81/m³, 가정) · MODFLOW로 확인</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고객 가치 ③ 가장 싼 보완책</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같은 신뢰도에서 반경 확대보다 10~29% 싸다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84970"/>
          <a:ext cx="6972300" cy="1930055"/>
        </p:xfrm>
        <a:graphic>
          <a:graphicData uri="http://schemas.openxmlformats.org/drawingml/2006/table">
            <a:tbl>
              <a:tblPr/>
              <a:tblGrid>
                <a:gridCol w="2370582">
                  <a:extLst>
                    <a:ext uri="{9D8B030D-6E8A-4147-A177-3AD203B41FA5}">
                      <a16:colId xmlns:a16="http://schemas.microsoft.com/office/drawing/2014/main" val="20000"/>
                    </a:ext>
                  </a:extLst>
                </a:gridCol>
                <a:gridCol w="1533906">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673352">
                  <a:extLst>
                    <a:ext uri="{9D8B030D-6E8A-4147-A177-3AD203B41FA5}">
                      <a16:colId xmlns:a16="http://schemas.microsoft.com/office/drawing/2014/main" val="20003"/>
                    </a:ext>
                  </a:extLst>
                </a:gridCol>
              </a:tblGrid>
              <a:tr h="386011">
                <a:tc>
                  <a:txBody>
                    <a:bodyPr/>
                    <a:lstStyle/>
                    <a:p>
                      <a:pPr marL="0" indent="0">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관개기(3개월)</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금지 6.9km 고정</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AquaLimit</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960"/>
                        </a:lnSpc>
                        <a:buNone/>
                      </a:pPr>
                      <a:r>
                        <a:rPr lang="en-US" sz="1400" b="1" dirty="0">
                          <a:solidFill>
                            <a:srgbClr val="1B2533"/>
                          </a:solidFill>
                          <a:latin typeface="IBM Plex Sans KR" pitchFamily="34" charset="0"/>
                          <a:ea typeface="IBM Plex Sans KR" pitchFamily="34" charset="-122"/>
                          <a:cs typeface="IBM Plex Sans KR" pitchFamily="34" charset="-120"/>
                        </a:rPr>
                        <a:t>절약</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습한 해</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$36.8M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$26.1M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C2571A"/>
                          </a:solidFill>
                          <a:latin typeface="IBM Plex Sans KR" pitchFamily="34" charset="0"/>
                          <a:ea typeface="IBM Plex Sans KR" pitchFamily="34" charset="-122"/>
                          <a:cs typeface="IBM Plex Sans KR" pitchFamily="34" charset="-120"/>
                        </a:rPr>
                        <a:t>$10.8M · 29%</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평년</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$43.4M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$34.8M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C2571A"/>
                          </a:solidFill>
                          <a:latin typeface="IBM Plex Sans KR" pitchFamily="34" charset="0"/>
                          <a:ea typeface="IBM Plex Sans KR" pitchFamily="34" charset="-122"/>
                          <a:cs typeface="IBM Plex Sans KR" pitchFamily="34" charset="-120"/>
                        </a:rPr>
                        <a:t>$8.6M · 20%</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가뭄·폭염</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$52.4M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$47.2M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$5.3M · 10%</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2021~22 대가뭄(18개월)*</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$112.3M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$101.4M</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960"/>
                        </a:lnSpc>
                        <a:buNone/>
                      </a:pPr>
                      <a:r>
                        <a:rPr lang="en-US" sz="1400" dirty="0">
                          <a:solidFill>
                            <a:srgbClr val="1B2533"/>
                          </a:solidFill>
                          <a:latin typeface="IBM Plex Sans KR" pitchFamily="34" charset="0"/>
                          <a:ea typeface="IBM Plex Sans KR" pitchFamily="34" charset="-122"/>
                          <a:cs typeface="IBM Plex Sans KR" pitchFamily="34" charset="-120"/>
                        </a:rPr>
                        <a:t>$10.9M · 10%</a:t>
                      </a:r>
                      <a:endParaRPr lang="en-US" sz="1400" dirty="0">
                        <a:latin typeface="IBM Plex Sans KR" charset="0"/>
                        <a:ea typeface="IBM Plex Sans KR" charset="0"/>
                        <a:cs typeface="IBM Plex Sans KR"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02600" y="1972270"/>
            <a:ext cx="3374898" cy="74349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C4656"/>
                </a:solidFill>
                <a:latin typeface="IBM Plex Sans KR" pitchFamily="34" charset="0"/>
                <a:ea typeface="IBM Plex Sans KR" pitchFamily="34" charset="-122"/>
                <a:cs typeface="IBM Plex Sans KR" pitchFamily="34" charset="-120"/>
              </a:rPr>
              <a:t>반경은 한 번 정하면 해마다 바꾸기 어렵다. 가뭄에도 지키려면 </a:t>
            </a:r>
            <a:r>
              <a:rPr lang="en-US" sz="1300" b="1" dirty="0">
                <a:solidFill>
                  <a:srgbClr val="3C4656"/>
                </a:solidFill>
                <a:latin typeface="IBM Plex Sans KR" pitchFamily="34" charset="0"/>
                <a:ea typeface="IBM Plex Sans KR" pitchFamily="34" charset="-122"/>
                <a:cs typeface="IBM Plex Sans KR" pitchFamily="34" charset="-120"/>
              </a:rPr>
              <a:t>6.9km</a:t>
            </a:r>
            <a:r>
              <a:rPr lang="en-US" sz="1300" dirty="0">
                <a:solidFill>
                  <a:srgbClr val="3C4656"/>
                </a:solidFill>
                <a:latin typeface="IBM Plex Sans KR" pitchFamily="34" charset="0"/>
                <a:ea typeface="IBM Plex Sans KR" pitchFamily="34" charset="-122"/>
                <a:cs typeface="IBM Plex Sans KR" pitchFamily="34" charset="-120"/>
              </a:rPr>
              <a:t>로 넓혀야 하고, 평년·습한 해엔 필요 이상으로 멈춘다.</a:t>
            </a:r>
            <a:endParaRPr lang="en-US" sz="1300" dirty="0"/>
          </a:p>
        </p:txBody>
      </p:sp>
      <p:sp>
        <p:nvSpPr>
          <p:cNvPr id="6" name="Text 3"/>
          <p:cNvSpPr/>
          <p:nvPr/>
        </p:nvSpPr>
        <p:spPr>
          <a:xfrm>
            <a:off x="8102600" y="2817366"/>
            <a:ext cx="3374898"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C4656"/>
                </a:solidFill>
                <a:latin typeface="IBM Plex Sans KR" pitchFamily="34" charset="0"/>
                <a:ea typeface="IBM Plex Sans KR" pitchFamily="34" charset="-122"/>
                <a:cs typeface="IBM Plex Sans KR" pitchFamily="34" charset="-120"/>
              </a:rPr>
              <a:t>반경을 그해 날씨에 맞춰 가장 유리하게 골라도 AquaLimit이 </a:t>
            </a:r>
            <a:r>
              <a:rPr lang="en-US" sz="1300" b="1" dirty="0">
                <a:solidFill>
                  <a:srgbClr val="3C4656"/>
                </a:solidFill>
                <a:latin typeface="IBM Plex Sans KR" pitchFamily="34" charset="0"/>
                <a:ea typeface="IBM Plex Sans KR" pitchFamily="34" charset="-122"/>
                <a:cs typeface="IBM Plex Sans KR" pitchFamily="34" charset="-120"/>
              </a:rPr>
              <a:t>5~10%</a:t>
            </a:r>
            <a:r>
              <a:rPr lang="en-US" sz="1300" dirty="0">
                <a:solidFill>
                  <a:srgbClr val="3C4656"/>
                </a:solidFill>
                <a:latin typeface="IBM Plex Sans KR" pitchFamily="34" charset="0"/>
                <a:ea typeface="IBM Plex Sans KR" pitchFamily="34" charset="-122"/>
                <a:cs typeface="IBM Plex Sans KR" pitchFamily="34" charset="-120"/>
              </a:rPr>
              <a:t> 싸다.</a:t>
            </a:r>
            <a:endParaRPr lang="en-US" sz="1300" dirty="0"/>
          </a:p>
        </p:txBody>
      </p:sp>
      <p:sp>
        <p:nvSpPr>
          <p:cNvPr id="7" name="Shape 4"/>
          <p:cNvSpPr/>
          <p:nvPr/>
        </p:nvSpPr>
        <p:spPr>
          <a:xfrm>
            <a:off x="815975" y="4172198"/>
            <a:ext cx="5207000" cy="1088330"/>
          </a:xfrm>
          <a:prstGeom prst="roundRect">
            <a:avLst>
              <a:gd name="adj" fmla="val 9044"/>
            </a:avLst>
          </a:prstGeom>
          <a:solidFill>
            <a:srgbClr val="FBFAF6"/>
          </a:solidFill>
          <a:ln w="6350">
            <a:solidFill>
              <a:srgbClr val="DAD6CB"/>
            </a:solidFill>
            <a:prstDash val="solid"/>
          </a:ln>
        </p:spPr>
        <p:txBody>
          <a:bodyPr/>
          <a:lstStyle/>
          <a:p>
            <a:endParaRPr lang="ko-KR" altLang="en-US"/>
          </a:p>
        </p:txBody>
      </p:sp>
      <p:sp>
        <p:nvSpPr>
          <p:cNvPr id="8" name="Text 5"/>
          <p:cNvSpPr/>
          <p:nvPr/>
        </p:nvSpPr>
        <p:spPr>
          <a:xfrm>
            <a:off x="1022350" y="4353173"/>
            <a:ext cx="493807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B"/>
                </a:solidFill>
                <a:latin typeface="IBM Plex Sans KR" pitchFamily="34" charset="0"/>
                <a:ea typeface="IBM Plex Sans KR" pitchFamily="34" charset="-122"/>
                <a:cs typeface="IBM Plex Sans KR" pitchFamily="34" charset="-120"/>
              </a:rPr>
              <a:t>두 안 모두 MODFLOW로 확인</a:t>
            </a:r>
            <a:endParaRPr lang="en-US" sz="1400" dirty="0"/>
          </a:p>
        </p:txBody>
      </p:sp>
      <p:sp>
        <p:nvSpPr>
          <p:cNvPr id="9" name="Text 6"/>
          <p:cNvSpPr/>
          <p:nvPr/>
        </p:nvSpPr>
        <p:spPr>
          <a:xfrm>
            <a:off x="1022350" y="4617293"/>
            <a:ext cx="493807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앙상블 모든 구성원에서 수로 38개 지점이 모두 기준 안. 금지 반경은 MODFLOW로 0.1km씩 찾았다.</a:t>
            </a:r>
            <a:endParaRPr lang="en-US" sz="1300" dirty="0"/>
          </a:p>
        </p:txBody>
      </p:sp>
      <p:sp>
        <p:nvSpPr>
          <p:cNvPr id="10" name="Shape 7"/>
          <p:cNvSpPr/>
          <p:nvPr/>
        </p:nvSpPr>
        <p:spPr>
          <a:xfrm>
            <a:off x="6178550" y="4169023"/>
            <a:ext cx="5200650" cy="1094680"/>
          </a:xfrm>
          <a:prstGeom prst="roundRect">
            <a:avLst>
              <a:gd name="adj" fmla="val 9281"/>
            </a:avLst>
          </a:prstGeom>
          <a:solidFill>
            <a:srgbClr val="E6EDF9"/>
          </a:solidFill>
          <a:ln/>
        </p:spPr>
        <p:txBody>
          <a:bodyPr/>
          <a:lstStyle/>
          <a:p>
            <a:endParaRPr lang="ko-KR" altLang="en-US"/>
          </a:p>
        </p:txBody>
      </p:sp>
      <p:sp>
        <p:nvSpPr>
          <p:cNvPr id="11" name="Text 8"/>
          <p:cNvSpPr/>
          <p:nvPr/>
        </p:nvSpPr>
        <p:spPr>
          <a:xfrm>
            <a:off x="6381750" y="4346823"/>
            <a:ext cx="493807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B"/>
                </a:solidFill>
                <a:latin typeface="IBM Plex Sans KR" pitchFamily="34" charset="0"/>
                <a:ea typeface="IBM Plex Sans KR" pitchFamily="34" charset="-122"/>
                <a:cs typeface="IBM Plex Sans KR" pitchFamily="34" charset="-120"/>
              </a:rPr>
              <a:t>빠른 계산 → 물리모델로 고침</a:t>
            </a:r>
            <a:endParaRPr lang="en-US" sz="1400" dirty="0"/>
          </a:p>
        </p:txBody>
      </p:sp>
      <p:sp>
        <p:nvSpPr>
          <p:cNvPr id="12" name="Text 9"/>
          <p:cNvSpPr/>
          <p:nvPr/>
        </p:nvSpPr>
        <p:spPr>
          <a:xfrm>
            <a:off x="6381750" y="4610943"/>
            <a:ext cx="493807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C4656"/>
                </a:solidFill>
                <a:latin typeface="IBM Plex Sans KR" pitchFamily="34" charset="0"/>
                <a:ea typeface="IBM Plex Sans KR" pitchFamily="34" charset="-122"/>
                <a:cs typeface="IBM Plex Sans KR" pitchFamily="34" charset="-120"/>
              </a:rPr>
              <a:t>선형 계산 계획은 MODFLOW에서 기준 확률 60~97%. 3~4번 고쳐 다시 풀면 100% (비용 +8~15%).</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기준: 연 0.5인치를 기간 길이로 나눈 값 · *대가뭄 재현은 그해 최소 반경 5.6km 대비 · 다음 관개기 앙상블 15개, 과거 재현 30개</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9">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실험 10 · 계획을 물리모델로 확인·보정</a:t>
            </a:r>
            <a:endParaRPr lang="en-US" sz="1200" dirty="0"/>
          </a:p>
        </p:txBody>
      </p:sp>
      <p:sp>
        <p:nvSpPr>
          <p:cNvPr id="3" name="Text 1"/>
          <p:cNvSpPr>
            <a:spLocks noGrp="1"/>
          </p:cNvSpPr>
          <p:nvPr>
            <p:ph type="title"/>
          </p:nvPr>
        </p:nvSpPr>
        <p:spPr>
          <a:xfrm>
            <a:off x="812800" y="1203920"/>
            <a:ext cx="10883392"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0E1A2B"/>
                </a:solidFill>
                <a:latin typeface="IBM Plex Sans KR" pitchFamily="34" charset="0"/>
                <a:ea typeface="IBM Plex Sans KR" pitchFamily="34" charset="-122"/>
                <a:cs typeface="IBM Plex Sans KR" pitchFamily="34" charset="-120"/>
              </a:rPr>
              <a:t>빠른 계산으로 푼 계획이 물리모델에서도 기준을 지키나?</a:t>
            </a:r>
            <a:endParaRPr lang="en-US" sz="2600" dirty="0"/>
          </a:p>
        </p:txBody>
      </p:sp>
      <p:sp>
        <p:nvSpPr>
          <p:cNvPr id="4" name="Shape 2"/>
          <p:cNvSpPr/>
          <p:nvPr/>
        </p:nvSpPr>
        <p:spPr>
          <a:xfrm>
            <a:off x="815975" y="1764605"/>
            <a:ext cx="3803650" cy="92049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5" name="Text 3"/>
          <p:cNvSpPr/>
          <p:nvPr/>
        </p:nvSpPr>
        <p:spPr>
          <a:xfrm>
            <a:off x="971550" y="188208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넣은 자료</a:t>
            </a:r>
            <a:endParaRPr lang="en-US" sz="1200" dirty="0"/>
          </a:p>
        </p:txBody>
      </p:sp>
      <p:sp>
        <p:nvSpPr>
          <p:cNvPr id="6" name="Text 4"/>
          <p:cNvSpPr/>
          <p:nvPr/>
        </p:nvSpPr>
        <p:spPr>
          <a:xfrm>
            <a:off x="971550" y="2130365"/>
            <a:ext cx="3597275"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실제 신고 우물 56개 · 기준 연 0.5인치 · 날씨 시나리오 3개 + 2021~22 대가뭄</a:t>
            </a:r>
            <a:endParaRPr lang="en-US" sz="1200" dirty="0"/>
          </a:p>
        </p:txBody>
      </p:sp>
      <p:sp>
        <p:nvSpPr>
          <p:cNvPr id="7" name="Shape 5"/>
          <p:cNvSpPr/>
          <p:nvPr/>
        </p:nvSpPr>
        <p:spPr>
          <a:xfrm>
            <a:off x="815975" y="2785685"/>
            <a:ext cx="3803650" cy="920496"/>
          </a:xfrm>
          <a:prstGeom prst="roundRect">
            <a:avLst>
              <a:gd name="adj" fmla="val 9548"/>
            </a:avLst>
          </a:prstGeom>
          <a:solidFill>
            <a:srgbClr val="FBFAF6"/>
          </a:solidFill>
          <a:ln w="6350">
            <a:solidFill>
              <a:srgbClr val="DAD6CB"/>
            </a:solidFill>
            <a:prstDash val="solid"/>
          </a:ln>
        </p:spPr>
        <p:txBody>
          <a:bodyPr/>
          <a:lstStyle/>
          <a:p>
            <a:endParaRPr lang="ko-KR" altLang="en-US"/>
          </a:p>
        </p:txBody>
      </p:sp>
      <p:sp>
        <p:nvSpPr>
          <p:cNvPr id="8" name="Text 6"/>
          <p:cNvSpPr/>
          <p:nvPr/>
        </p:nvSpPr>
        <p:spPr>
          <a:xfrm>
            <a:off x="971550" y="2903160"/>
            <a:ext cx="35972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9C4"/>
                </a:solidFill>
                <a:latin typeface="IBM Plex Sans KR" pitchFamily="34" charset="0"/>
                <a:ea typeface="IBM Plex Sans KR" pitchFamily="34" charset="-122"/>
                <a:cs typeface="IBM Plex Sans KR" pitchFamily="34" charset="-120"/>
              </a:rPr>
              <a:t>맞춘 자료 (계획 계산)</a:t>
            </a:r>
            <a:endParaRPr lang="en-US" sz="1200" dirty="0"/>
          </a:p>
        </p:txBody>
      </p:sp>
      <p:sp>
        <p:nvSpPr>
          <p:cNvPr id="9" name="Text 7"/>
          <p:cNvSpPr/>
          <p:nvPr/>
        </p:nvSpPr>
        <p:spPr>
          <a:xfrm>
            <a:off x="971550" y="3151445"/>
            <a:ext cx="3597275"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운영 모델 앙상블의 선형 응답(우물 묶음 취수 → 수로 38개 지점 침하)으로 최소 비용 계획</a:t>
            </a:r>
            <a:endParaRPr lang="en-US" sz="1200" dirty="0"/>
          </a:p>
        </p:txBody>
      </p:sp>
      <p:sp>
        <p:nvSpPr>
          <p:cNvPr id="10" name="Shape 8"/>
          <p:cNvSpPr/>
          <p:nvPr/>
        </p:nvSpPr>
        <p:spPr>
          <a:xfrm>
            <a:off x="812800" y="3806765"/>
            <a:ext cx="3810000" cy="920496"/>
          </a:xfrm>
          <a:prstGeom prst="roundRect">
            <a:avLst>
              <a:gd name="adj" fmla="val 9972"/>
            </a:avLst>
          </a:prstGeom>
          <a:solidFill>
            <a:srgbClr val="E6EDF9"/>
          </a:solidFill>
          <a:ln/>
        </p:spPr>
        <p:txBody>
          <a:bodyPr/>
          <a:lstStyle/>
          <a:p>
            <a:endParaRPr lang="ko-KR" altLang="en-US"/>
          </a:p>
        </p:txBody>
      </p:sp>
      <p:sp>
        <p:nvSpPr>
          <p:cNvPr id="11" name="Text 9"/>
          <p:cNvSpPr/>
          <p:nvPr/>
        </p:nvSpPr>
        <p:spPr>
          <a:xfrm>
            <a:off x="965200" y="3921065"/>
            <a:ext cx="361035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IBM Plex Sans KR" pitchFamily="34" charset="0"/>
                <a:ea typeface="IBM Plex Sans KR" pitchFamily="34" charset="-122"/>
                <a:cs typeface="IBM Plex Sans KR" pitchFamily="34" charset="-120"/>
              </a:rPr>
              <a:t>테스트 자료</a:t>
            </a:r>
            <a:endParaRPr lang="en-US" sz="1200" dirty="0"/>
          </a:p>
        </p:txBody>
      </p:sp>
      <p:sp>
        <p:nvSpPr>
          <p:cNvPr id="12" name="Text 10"/>
          <p:cNvSpPr/>
          <p:nvPr/>
        </p:nvSpPr>
        <p:spPr>
          <a:xfrm>
            <a:off x="965200" y="4172525"/>
            <a:ext cx="3610356" cy="445008"/>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C4656"/>
                </a:solidFill>
                <a:latin typeface="IBM Plex Sans KR" pitchFamily="34" charset="0"/>
                <a:ea typeface="IBM Plex Sans KR" pitchFamily="34" charset="-122"/>
                <a:cs typeface="IBM Plex Sans KR" pitchFamily="34" charset="-120"/>
              </a:rPr>
              <a:t>같은 계획을 MODFLOW로 직접 다시 돌림: 모든 구성원·모든 지점 기준 안이면 통과</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89500" y="1774130"/>
          <a:ext cx="6489700" cy="1437284"/>
        </p:xfrm>
        <a:graphic>
          <a:graphicData uri="http://schemas.openxmlformats.org/drawingml/2006/table">
            <a:tbl>
              <a:tblPr/>
              <a:tblGrid>
                <a:gridCol w="3244850">
                  <a:extLst>
                    <a:ext uri="{9D8B030D-6E8A-4147-A177-3AD203B41FA5}">
                      <a16:colId xmlns:a16="http://schemas.microsoft.com/office/drawing/2014/main" val="20000"/>
                    </a:ext>
                  </a:extLst>
                </a:gridCol>
                <a:gridCol w="1427734">
                  <a:extLst>
                    <a:ext uri="{9D8B030D-6E8A-4147-A177-3AD203B41FA5}">
                      <a16:colId xmlns:a16="http://schemas.microsoft.com/office/drawing/2014/main" val="20001"/>
                    </a:ext>
                  </a:extLst>
                </a:gridCol>
                <a:gridCol w="1817116">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평년 2026.5~7</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비용</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기준 지킬 확률</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선형 계산 그대로</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$30.2M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60%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차이를 더해 고치기 ×4</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$34.9M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C2571A"/>
                          </a:solidFill>
                          <a:latin typeface="IBM Plex Sans KR" pitchFamily="34" charset="0"/>
                          <a:ea typeface="IBM Plex Sans KR" pitchFamily="34" charset="-122"/>
                          <a:cs typeface="IBM Plex Sans KR" pitchFamily="34" charset="-120"/>
                        </a:rPr>
                        <a:t>93%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비율로 고치기 ×3</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$34.8M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100%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8BDC6"/>
                      </a:solidFill>
                      <a:prstDash val="solid"/>
                      <a:round/>
                      <a:headEnd type="none" w="med" len="med"/>
                      <a:tailEnd type="none" w="med" len="med"/>
                    </a:lnL>
                    <a:lnR w="12700" cap="flat" cmpd="sng" algn="ctr">
                      <a:solidFill>
                        <a:srgbClr val="B8BD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DC6"/>
                      </a:solidFill>
                      <a:prstDash val="solid"/>
                      <a:round/>
                      <a:headEnd type="none" w="med" len="med"/>
                      <a:tailEnd type="none" w="med" len="med"/>
                    </a:lnB>
                    <a:solidFill>
                      <a:srgbClr val="E6EDF9"/>
                    </a:solidFill>
                  </a:tcPr>
                </a:tc>
                <a:extLst>
                  <a:ext uri="{0D108BD9-81ED-4DB2-BD59-A6C34878D82A}">
                    <a16:rowId xmlns:a16="http://schemas.microsoft.com/office/drawing/2014/main" val="10003"/>
                  </a:ext>
                </a:extLst>
              </a:tr>
            </a:tbl>
          </a:graphicData>
        </a:graphic>
      </p:graphicFrame>
      <p:graphicFrame>
        <p:nvGraphicFramePr>
          <p:cNvPr id="14" name="Table 1"/>
          <p:cNvGraphicFramePr>
            <a:graphicFrameLocks noGrp="1"/>
          </p:cNvGraphicFramePr>
          <p:nvPr>
            <p:extLst>
              <p:ext uri="{D42A27DB-BD31-4B8C-83A1-F6EECF244321}">
                <p14:modId xmlns:p14="http://schemas.microsoft.com/office/powerpoint/2010/main" val="1579011935"/>
              </p:ext>
            </p:extLst>
          </p:nvPr>
        </p:nvGraphicFramePr>
        <p:xfrm>
          <a:off x="4889500" y="3338413"/>
          <a:ext cx="6489700" cy="718642"/>
        </p:xfrm>
        <a:graphic>
          <a:graphicData uri="http://schemas.openxmlformats.org/drawingml/2006/table">
            <a:tbl>
              <a:tblPr/>
              <a:tblGrid>
                <a:gridCol w="3244850">
                  <a:extLst>
                    <a:ext uri="{9D8B030D-6E8A-4147-A177-3AD203B41FA5}">
                      <a16:colId xmlns:a16="http://schemas.microsoft.com/office/drawing/2014/main" val="20000"/>
                    </a:ext>
                  </a:extLst>
                </a:gridCol>
                <a:gridCol w="3244850">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가뭄에도 지키는 금지 반경</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선형 6.0km → MODFLOW 6.9km</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같은 신뢰도에서 AquaLimit 절약</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평년 20% · 습한 해 29% · 가뭄 10%</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5" name="Text 11"/>
          <p:cNvSpPr/>
          <p:nvPr/>
        </p:nvSpPr>
        <p:spPr>
          <a:xfrm>
            <a:off x="4876800" y="4171355"/>
            <a:ext cx="6502400" cy="741660"/>
          </a:xfrm>
          <a:prstGeom prst="roundRect">
            <a:avLst>
              <a:gd name="adj" fmla="val 11987"/>
            </a:avLst>
          </a:prstGeom>
          <a:solidFill>
            <a:srgbClr val="0E1A2B"/>
          </a:solidFill>
          <a:ln/>
        </p:spPr>
        <p:txBody>
          <a:bodyPr wrap="square" lIns="151762" tIns="113662" rIns="0" bIns="88262" rtlCol="0" anchor="t">
            <a:normAutofit/>
          </a:bodyPr>
          <a:lstStyle/>
          <a:p>
            <a:pPr marL="0" indent="0" algn="l">
              <a:lnSpc>
                <a:spcPts val="1820"/>
              </a:lnSpc>
              <a:buNone/>
            </a:pPr>
            <a:r>
              <a:rPr lang="en-US" sz="1300" b="1" dirty="0">
                <a:solidFill>
                  <a:srgbClr val="F0A35E"/>
                </a:solidFill>
                <a:latin typeface="IBM Plex Sans KR" pitchFamily="34" charset="0"/>
                <a:ea typeface="IBM Plex Sans KR" pitchFamily="34" charset="-122"/>
                <a:cs typeface="IBM Plex Sans KR" pitchFamily="34" charset="-120"/>
              </a:rPr>
              <a:t>그래서 →</a:t>
            </a:r>
            <a:r>
              <a:rPr lang="en-US" sz="1300" dirty="0">
                <a:solidFill>
                  <a:srgbClr val="F4F2EC"/>
                </a:solidFill>
                <a:latin typeface="IBM Plex Sans KR" pitchFamily="34" charset="0"/>
                <a:ea typeface="IBM Plex Sans KR" pitchFamily="34" charset="-122"/>
                <a:cs typeface="IBM Plex Sans KR" pitchFamily="34" charset="-120"/>
              </a:rPr>
              <a:t> 발표의 정책 숫자는 모두 MODFLOW로 확인·보정한 값. 계획을 내보내기 전 물리모델 확인을 제품 기능으로 넣었다</a:t>
            </a:r>
            <a:endParaRPr lang="en-US" sz="1300" dirty="0"/>
          </a:p>
        </p:txBody>
      </p:sp>
      <p:sp>
        <p:nvSpPr>
          <p:cNvPr id="16"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다음 관개기 앙상블 15개, 과거 재현 30개 · 습한 해 80% → 100%, 가뭄 60% → 100%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개발 · 위치 입력 AI</a:t>
            </a:r>
            <a:endParaRPr lang="en-US" sz="1200" dirty="0"/>
          </a:p>
        </p:txBody>
      </p:sp>
      <p:sp>
        <p:nvSpPr>
          <p:cNvPr id="3" name="Text 1"/>
          <p:cNvSpPr>
            <a:spLocks noGrp="1"/>
          </p:cNvSpPr>
          <p:nvPr>
            <p:ph type="title"/>
          </p:nvPr>
        </p:nvSpPr>
        <p:spPr>
          <a:xfrm>
            <a:off x="812800" y="12801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어느 칸에 우물을 놓아도 1초 안에 계획한다</a:t>
            </a:r>
            <a:endParaRPr lang="en-US" sz="3000" dirty="0"/>
          </a:p>
        </p:txBody>
      </p:sp>
      <p:sp>
        <p:nvSpPr>
          <p:cNvPr id="4" name="Shape 2"/>
          <p:cNvSpPr/>
          <p:nvPr/>
        </p:nvSpPr>
        <p:spPr>
          <a:xfrm>
            <a:off x="812800" y="1972270"/>
            <a:ext cx="6604000" cy="2540000"/>
          </a:xfrm>
          <a:prstGeom prst="roundRect">
            <a:avLst>
              <a:gd name="adj" fmla="val 3000"/>
            </a:avLst>
          </a:prstGeom>
          <a:solidFill>
            <a:srgbClr val="FCFCFB"/>
          </a:solidFill>
          <a:ln/>
        </p:spPr>
        <p:txBody>
          <a:bodyPr/>
          <a:lstStyle/>
          <a:p>
            <a:endParaRPr lang="ko-KR" altLang="en-US"/>
          </a:p>
        </p:txBody>
      </p:sp>
      <p:pic>
        <p:nvPicPr>
          <p:cNvPr id="5" name="Image 0" descr="왼쪽: 처음 보는 땅속 상태·위치 160개에서 AI와 MODFLOW 수로 침하 비교, 대각선에 붙음(R² 0.92). 오른쪽: 우물 위치별 수로 영향 지도, 수로 가까운 중·북부가 가장 위험하고 실제 사업자 우물(초록 삼각형)은 영향이 작은 곳"/>
          <p:cNvPicPr>
            <a:picLocks noChangeAspect="1"/>
          </p:cNvPicPr>
          <p:nvPr/>
        </p:nvPicPr>
        <p:blipFill>
          <a:blip r:embed="rId3"/>
          <a:srcRect t="-167" b="-167"/>
          <a:stretch/>
        </p:blipFill>
        <p:spPr>
          <a:xfrm>
            <a:off x="812800" y="1972270"/>
            <a:ext cx="6604000" cy="2540000"/>
          </a:xfrm>
          <a:prstGeom prst="roundRect">
            <a:avLst>
              <a:gd name="adj" fmla="val 3000"/>
            </a:avLst>
          </a:prstGeom>
        </p:spPr>
      </p:pic>
      <p:sp>
        <p:nvSpPr>
          <p:cNvPr id="6" name="Text 3"/>
          <p:cNvSpPr/>
          <p:nvPr/>
        </p:nvSpPr>
        <p:spPr>
          <a:xfrm>
            <a:off x="812800" y="4613870"/>
            <a:ext cx="680212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입력: 땅속 성질 23개 + 우물 위치 · 출력: 하루 1,000m³를 3개월 뽑을 때 수로 38곳 추가 침하·수위 · 학습: MODFLOW 1,000회</a:t>
            </a:r>
            <a:endParaRPr lang="en-US" sz="1200" dirty="0"/>
          </a:p>
        </p:txBody>
      </p:sp>
      <p:sp>
        <p:nvSpPr>
          <p:cNvPr id="7" name="Text 4"/>
          <p:cNvSpPr/>
          <p:nvPr/>
        </p:nvSpPr>
        <p:spPr>
          <a:xfrm>
            <a:off x="7721600" y="1972270"/>
            <a:ext cx="3767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땅속 상태 1,000개 × 우물 6곳</a:t>
            </a:r>
            <a:endParaRPr lang="en-US" sz="1200" dirty="0"/>
          </a:p>
        </p:txBody>
      </p:sp>
      <p:sp>
        <p:nvSpPr>
          <p:cNvPr id="8" name="Text 5"/>
          <p:cNvSpPr/>
          <p:nvPr/>
        </p:nvSpPr>
        <p:spPr>
          <a:xfrm>
            <a:off x="7721600" y="2256711"/>
            <a:ext cx="3767328" cy="420624"/>
          </a:xfrm>
          <a:prstGeom prst="rect">
            <a:avLst/>
          </a:prstGeom>
          <a:noFill/>
          <a:ln/>
        </p:spPr>
        <p:txBody>
          <a:bodyPr wrap="square" lIns="0" tIns="0" rIns="0" bIns="0" rtlCol="0" anchor="t">
            <a:normAutofit/>
          </a:bodyPr>
          <a:lstStyle/>
          <a:p>
            <a:pPr marL="0" indent="0" algn="l">
              <a:lnSpc>
                <a:spcPts val="3200"/>
              </a:lnSpc>
              <a:buNone/>
            </a:pPr>
            <a:r>
              <a:rPr lang="en-US" sz="2600" b="1" dirty="0">
                <a:solidFill>
                  <a:srgbClr val="2459C4"/>
                </a:solidFill>
                <a:latin typeface="IBM Plex Sans KR" pitchFamily="34" charset="0"/>
                <a:ea typeface="IBM Plex Sans KR" pitchFamily="34" charset="-122"/>
                <a:cs typeface="IBM Plex Sans KR" pitchFamily="34" charset="-120"/>
              </a:rPr>
              <a:t>11시간 → 1초</a:t>
            </a:r>
            <a:endParaRPr lang="en-US" sz="2600" dirty="0"/>
          </a:p>
        </p:txBody>
      </p:sp>
      <p:sp>
        <p:nvSpPr>
          <p:cNvPr id="9" name="Text 6"/>
          <p:cNvSpPr/>
          <p:nvPr/>
        </p:nvSpPr>
        <p:spPr>
          <a:xfrm>
            <a:off x="7721600" y="2751981"/>
            <a:ext cx="3767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처음 보는 위치·땅속 상태 정확도</a:t>
            </a:r>
            <a:endParaRPr lang="en-US" sz="1200" dirty="0"/>
          </a:p>
        </p:txBody>
      </p:sp>
      <p:sp>
        <p:nvSpPr>
          <p:cNvPr id="10" name="Text 7"/>
          <p:cNvSpPr/>
          <p:nvPr/>
        </p:nvSpPr>
        <p:spPr>
          <a:xfrm>
            <a:off x="7721600" y="3036421"/>
            <a:ext cx="3767328" cy="420624"/>
          </a:xfrm>
          <a:prstGeom prst="rect">
            <a:avLst/>
          </a:prstGeom>
          <a:noFill/>
          <a:ln/>
        </p:spPr>
        <p:txBody>
          <a:bodyPr wrap="square" lIns="0" tIns="0" rIns="0" bIns="0" rtlCol="0" anchor="t">
            <a:normAutofit/>
          </a:bodyPr>
          <a:lstStyle/>
          <a:p>
            <a:pPr marL="0" indent="0" algn="l">
              <a:lnSpc>
                <a:spcPts val="3200"/>
              </a:lnSpc>
              <a:buNone/>
            </a:pPr>
            <a:r>
              <a:rPr lang="en-US" sz="2600" b="1" dirty="0">
                <a:solidFill>
                  <a:srgbClr val="0E1A2B"/>
                </a:solidFill>
                <a:latin typeface="IBM Plex Sans KR" pitchFamily="34" charset="0"/>
                <a:ea typeface="IBM Plex Sans KR" pitchFamily="34" charset="-122"/>
                <a:cs typeface="IBM Plex Sans KR" pitchFamily="34" charset="-120"/>
              </a:rPr>
              <a:t>R² 0.92</a:t>
            </a:r>
            <a:endParaRPr lang="en-US" sz="2600" dirty="0"/>
          </a:p>
        </p:txBody>
      </p:sp>
      <p:sp>
        <p:nvSpPr>
          <p:cNvPr id="11" name="Text 8"/>
          <p:cNvSpPr/>
          <p:nvPr/>
        </p:nvSpPr>
        <p:spPr>
          <a:xfrm>
            <a:off x="7721600" y="3531691"/>
            <a:ext cx="3767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AI로 짠 계획을 MODFLOW 30개로 확인</a:t>
            </a:r>
            <a:endParaRPr lang="en-US" sz="1200" dirty="0"/>
          </a:p>
        </p:txBody>
      </p:sp>
      <p:sp>
        <p:nvSpPr>
          <p:cNvPr id="12" name="Text 9"/>
          <p:cNvSpPr/>
          <p:nvPr/>
        </p:nvSpPr>
        <p:spPr>
          <a:xfrm>
            <a:off x="7721600" y="3816132"/>
            <a:ext cx="3767328" cy="420624"/>
          </a:xfrm>
          <a:prstGeom prst="rect">
            <a:avLst/>
          </a:prstGeom>
          <a:noFill/>
          <a:ln/>
        </p:spPr>
        <p:txBody>
          <a:bodyPr wrap="square" lIns="0" tIns="0" rIns="0" bIns="0" rtlCol="0" anchor="t">
            <a:normAutofit/>
          </a:bodyPr>
          <a:lstStyle/>
          <a:p>
            <a:pPr marL="0" indent="0" algn="l">
              <a:lnSpc>
                <a:spcPts val="3200"/>
              </a:lnSpc>
              <a:buNone/>
            </a:pPr>
            <a:r>
              <a:rPr lang="en-US" sz="2600" b="1" dirty="0">
                <a:solidFill>
                  <a:srgbClr val="0E1A2B"/>
                </a:solidFill>
                <a:latin typeface="IBM Plex Sans KR" pitchFamily="34" charset="0"/>
                <a:ea typeface="IBM Plex Sans KR" pitchFamily="34" charset="-122"/>
                <a:cs typeface="IBM Plex Sans KR" pitchFamily="34" charset="-120"/>
              </a:rPr>
              <a:t>초과 0%</a:t>
            </a:r>
            <a:endParaRPr lang="en-US" sz="26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AI는 MODFLOW를 흉내 낸다. 학습 범위 밖은 보장하지 않으며, 최종 계획은 MODFLOW로 다시 확인한다</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사업 모델</a:t>
            </a:r>
            <a:endParaRPr lang="en-US" sz="1200" dirty="0"/>
          </a:p>
        </p:txBody>
      </p:sp>
      <p:sp>
        <p:nvSpPr>
          <p:cNvPr id="3" name="Text 1"/>
          <p:cNvSpPr>
            <a:spLocks noGrp="1"/>
          </p:cNvSpPr>
          <p:nvPr>
            <p:ph type="title"/>
          </p:nvPr>
        </p:nvSpPr>
        <p:spPr>
          <a:xfrm>
            <a:off x="812800" y="12293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첫 고객은 금지 연장을 6개월마다 정하는 관리기관</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6210300" cy="1668414"/>
        </p:xfrm>
        <a:graphic>
          <a:graphicData uri="http://schemas.openxmlformats.org/drawingml/2006/table">
            <a:tbl>
              <a:tblPr/>
              <a:tblGrid>
                <a:gridCol w="1614678">
                  <a:extLst>
                    <a:ext uri="{9D8B030D-6E8A-4147-A177-3AD203B41FA5}">
                      <a16:colId xmlns:a16="http://schemas.microsoft.com/office/drawing/2014/main" val="20000"/>
                    </a:ext>
                  </a:extLst>
                </a:gridCol>
                <a:gridCol w="2980944">
                  <a:extLst>
                    <a:ext uri="{9D8B030D-6E8A-4147-A177-3AD203B41FA5}">
                      <a16:colId xmlns:a16="http://schemas.microsoft.com/office/drawing/2014/main" val="20001"/>
                    </a:ext>
                  </a:extLst>
                </a:gridCol>
                <a:gridCol w="1614678">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상품</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내용</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가격 가설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지역 모델 구축</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자료 수집, 보정, 앙상블, 위치 AI</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지역당 $8~15만</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59045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연간 운영 구독</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월 위성 갱신, 금지 효과 점검, 감량안, 이행 점검 목록</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연 $3~6만</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국내 공사 라이선스</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공사 중 배수정별 양수 계획</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현장당 3~6천만원</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3653383"/>
            <a:ext cx="640969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6B7480"/>
                </a:solidFill>
                <a:latin typeface="IBM Plex Sans KR" pitchFamily="34" charset="0"/>
                <a:ea typeface="IBM Plex Sans KR" pitchFamily="34" charset="-122"/>
                <a:cs typeface="IBM Plex Sans KR" pitchFamily="34" charset="-120"/>
              </a:rPr>
              <a:t>가격은 검증하지 않은 가설이다. 자료(OPERA·Landsat·우물 신고)는 모두 무료 공개 자료라 지역 추가 비용은 주로 계산이다.</a:t>
            </a:r>
            <a:endParaRPr lang="en-US" sz="1200" dirty="0"/>
          </a:p>
        </p:txBody>
      </p:sp>
      <p:sp>
        <p:nvSpPr>
          <p:cNvPr id="6" name="Shape 3"/>
          <p:cNvSpPr/>
          <p:nvPr/>
        </p:nvSpPr>
        <p:spPr>
          <a:xfrm>
            <a:off x="7340600" y="1870670"/>
            <a:ext cx="4038600" cy="1247031"/>
          </a:xfrm>
          <a:prstGeom prst="roundRect">
            <a:avLst>
              <a:gd name="adj" fmla="val 8147"/>
            </a:avLst>
          </a:prstGeom>
          <a:solidFill>
            <a:srgbClr val="0E1A2B"/>
          </a:solidFill>
          <a:ln/>
        </p:spPr>
        <p:txBody>
          <a:bodyPr/>
          <a:lstStyle/>
          <a:p>
            <a:endParaRPr lang="ko-KR" altLang="en-US"/>
          </a:p>
        </p:txBody>
      </p:sp>
      <p:sp>
        <p:nvSpPr>
          <p:cNvPr id="7" name="Text 4"/>
          <p:cNvSpPr/>
          <p:nvPr/>
        </p:nvSpPr>
        <p:spPr>
          <a:xfrm>
            <a:off x="7543800" y="2048470"/>
            <a:ext cx="37411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KR" pitchFamily="34" charset="0"/>
                <a:ea typeface="IBM Plex Sans KR" pitchFamily="34" charset="-122"/>
                <a:cs typeface="IBM Plex Sans KR" pitchFamily="34" charset="-120"/>
              </a:rPr>
              <a:t>관개기 한 번 절약(고정 반경 대비, 모델 비교)</a:t>
            </a:r>
            <a:endParaRPr lang="en-US" sz="1200" dirty="0"/>
          </a:p>
        </p:txBody>
      </p:sp>
      <p:sp>
        <p:nvSpPr>
          <p:cNvPr id="8" name="Text 5"/>
          <p:cNvSpPr/>
          <p:nvPr/>
        </p:nvSpPr>
        <p:spPr>
          <a:xfrm>
            <a:off x="7543800" y="2312591"/>
            <a:ext cx="3741166" cy="38859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0A35E"/>
                </a:solidFill>
                <a:latin typeface="IBM Plex Sans KR" pitchFamily="34" charset="0"/>
                <a:ea typeface="IBM Plex Sans KR" pitchFamily="34" charset="-122"/>
                <a:cs typeface="IBM Plex Sans KR" pitchFamily="34" charset="-120"/>
              </a:rPr>
              <a:t>$5~11M</a:t>
            </a:r>
            <a:endParaRPr lang="en-US" sz="2600" dirty="0"/>
          </a:p>
        </p:txBody>
      </p:sp>
      <p:sp>
        <p:nvSpPr>
          <p:cNvPr id="9" name="Text 6"/>
          <p:cNvSpPr/>
          <p:nvPr/>
        </p:nvSpPr>
        <p:spPr>
          <a:xfrm>
            <a:off x="7543800" y="2726581"/>
            <a:ext cx="37411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KR" pitchFamily="34" charset="0"/>
                <a:ea typeface="IBM Plex Sans KR" pitchFamily="34" charset="-122"/>
                <a:cs typeface="IBM Plex Sans KR" pitchFamily="34" charset="-120"/>
              </a:rPr>
              <a:t>vs 연 구독 가설 $3~6만</a:t>
            </a:r>
            <a:endParaRPr lang="en-US" sz="1200" dirty="0"/>
          </a:p>
        </p:txBody>
      </p:sp>
      <p:sp>
        <p:nvSpPr>
          <p:cNvPr id="10" name="Text 7"/>
          <p:cNvSpPr/>
          <p:nvPr/>
        </p:nvSpPr>
        <p:spPr>
          <a:xfrm>
            <a:off x="7340600" y="3246120"/>
            <a:ext cx="4159758" cy="73152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C4656"/>
                </a:solidFill>
                <a:latin typeface="IBM Plex Sans KR" pitchFamily="34" charset="0"/>
                <a:ea typeface="IBM Plex Sans KR" pitchFamily="34" charset="-122"/>
                <a:cs typeface="IBM Plex Sans KR" pitchFamily="34" charset="-120"/>
              </a:rPr>
              <a:t>InSAR 회사는 경쟁자가 아니라 자료 파트너다. 그들은 “어디가 꺼지나”, AquaLimit은 “그래서 무엇을 바꾸나”.</a:t>
            </a:r>
            <a:endParaRPr lang="en-US" sz="1300" dirty="0"/>
          </a:p>
        </p:txBody>
      </p:sp>
      <p:sp>
        <p:nvSpPr>
          <p:cNvPr id="11" name="Text 8"/>
          <p:cNvSpPr/>
          <p:nvPr/>
        </p:nvSpPr>
        <p:spPr>
          <a:xfrm>
            <a:off x="812800" y="4298504"/>
            <a:ext cx="3412034" cy="728960"/>
          </a:xfrm>
          <a:prstGeom prst="roundRect">
            <a:avLst>
              <a:gd name="adj" fmla="val 10453"/>
            </a:avLst>
          </a:prstGeom>
          <a:solidFill>
            <a:srgbClr val="E6EDF9"/>
          </a:solidFill>
          <a:ln/>
        </p:spPr>
        <p:txBody>
          <a:bodyPr wrap="square" lIns="130082" tIns="104682" rIns="36865" bIns="79282" rtlCol="0" anchor="t">
            <a:normAutofit/>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① 미국 실증</a:t>
            </a:r>
            <a:r>
              <a:rPr lang="en-US" sz="1300" dirty="0">
                <a:solidFill>
                  <a:srgbClr val="1B2533"/>
                </a:solidFill>
                <a:latin typeface="IBM Plex Sans KR" pitchFamily="34" charset="0"/>
                <a:ea typeface="IBM Plex Sans KR" pitchFamily="34" charset="-122"/>
                <a:cs typeface="IBM Plex Sans KR" pitchFamily="34" charset="-120"/>
              </a:rPr>
              <a:t> GSA·DWR 수로 침하 사업(CASP)</a:t>
            </a:r>
            <a:endParaRPr lang="en-US" sz="1300" dirty="0"/>
          </a:p>
        </p:txBody>
      </p:sp>
      <p:sp>
        <p:nvSpPr>
          <p:cNvPr id="12" name="Text 9"/>
          <p:cNvSpPr/>
          <p:nvPr/>
        </p:nvSpPr>
        <p:spPr>
          <a:xfrm>
            <a:off x="4380409" y="4301679"/>
            <a:ext cx="3418433" cy="722610"/>
          </a:xfrm>
          <a:prstGeom prst="roundRect">
            <a:avLst>
              <a:gd name="adj" fmla="val 10106"/>
            </a:avLst>
          </a:prstGeom>
          <a:solidFill>
            <a:srgbClr val="FBFAF6"/>
          </a:solidFill>
          <a:ln w="6350">
            <a:solidFill>
              <a:srgbClr val="DAD6CB"/>
            </a:solidFill>
            <a:prstDash val="solid"/>
          </a:ln>
        </p:spPr>
        <p:txBody>
          <a:bodyPr wrap="square" lIns="134187" tIns="108787" rIns="40968" bIns="83387" rtlCol="0" anchor="t">
            <a:normAutofit/>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② 국내 민간</a:t>
            </a:r>
            <a:r>
              <a:rPr lang="en-US" sz="1300" dirty="0">
                <a:solidFill>
                  <a:srgbClr val="1B2533"/>
                </a:solidFill>
                <a:latin typeface="IBM Plex Sans KR" pitchFamily="34" charset="0"/>
                <a:ea typeface="IBM Plex Sans KR" pitchFamily="34" charset="-122"/>
                <a:cs typeface="IBM Plex Sans KR" pitchFamily="34" charset="-120"/>
              </a:rPr>
              <a:t> 대형 굴착공사 시공사·지하안전평가</a:t>
            </a:r>
            <a:endParaRPr lang="en-US" sz="1300" dirty="0"/>
          </a:p>
        </p:txBody>
      </p:sp>
      <p:sp>
        <p:nvSpPr>
          <p:cNvPr id="13" name="Text 10"/>
          <p:cNvSpPr/>
          <p:nvPr/>
        </p:nvSpPr>
        <p:spPr>
          <a:xfrm>
            <a:off x="7957592" y="4301679"/>
            <a:ext cx="3418433" cy="722610"/>
          </a:xfrm>
          <a:prstGeom prst="roundRect">
            <a:avLst>
              <a:gd name="adj" fmla="val 10106"/>
            </a:avLst>
          </a:prstGeom>
          <a:solidFill>
            <a:srgbClr val="FBFAF6"/>
          </a:solidFill>
          <a:ln w="6350">
            <a:solidFill>
              <a:srgbClr val="DAD6CB"/>
            </a:solidFill>
            <a:prstDash val="solid"/>
          </a:ln>
        </p:spPr>
        <p:txBody>
          <a:bodyPr wrap="square" lIns="134187" tIns="108787" rIns="40968" bIns="83387" rtlCol="0" anchor="t">
            <a:normAutofit/>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③ 국내 공공</a:t>
            </a:r>
            <a:r>
              <a:rPr lang="en-US" sz="1300" dirty="0">
                <a:solidFill>
                  <a:srgbClr val="1B2533"/>
                </a:solidFill>
                <a:latin typeface="IBM Plex Sans KR" pitchFamily="34" charset="0"/>
                <a:ea typeface="IBM Plex Sans KR" pitchFamily="34" charset="-122"/>
                <a:cs typeface="IBM Plex Sans KR" pitchFamily="34" charset="-120"/>
              </a:rPr>
              <a:t> 지자체·K-water(국산 위성)</a:t>
            </a:r>
            <a:endParaRPr lang="en-US" sz="13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다음 검증: WDWA GSA·DWR CASP에 질문 메일(초안 완료)</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2459C4"/>
                </a:solidFill>
                <a:latin typeface="IBM Plex Mono" pitchFamily="49" charset="0"/>
                <a:ea typeface="IBM Plex Mono" pitchFamily="49" charset="-122"/>
                <a:cs typeface="IBM Plex Mono" pitchFamily="49" charset="-120"/>
              </a:rPr>
              <a:t>국내 적용</a:t>
            </a:r>
            <a:endParaRPr lang="en-US" sz="1200" dirty="0"/>
          </a:p>
        </p:txBody>
      </p:sp>
      <p:sp>
        <p:nvSpPr>
          <p:cNvPr id="3" name="Text 1"/>
          <p:cNvSpPr>
            <a:spLocks noGrp="1"/>
          </p:cNvSpPr>
          <p:nvPr>
            <p:ph type="title"/>
          </p:nvPr>
        </p:nvSpPr>
        <p:spPr>
          <a:xfrm>
            <a:off x="812800" y="125472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0E1A2B"/>
                </a:solidFill>
                <a:latin typeface="IBM Plex Sans KR" pitchFamily="34" charset="0"/>
                <a:ea typeface="IBM Plex Sans KR" pitchFamily="34" charset="-122"/>
                <a:cs typeface="IBM Plex Sans KR" pitchFamily="34" charset="-120"/>
              </a:rPr>
              <a:t>엔진은 그대로, 입력을 국산 위성으로 바꾼다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4170"/>
          <a:ext cx="6591300" cy="2027735"/>
        </p:xfrm>
        <a:graphic>
          <a:graphicData uri="http://schemas.openxmlformats.org/drawingml/2006/table">
            <a:tbl>
              <a:tblPr/>
              <a:tblGrid>
                <a:gridCol w="1450086">
                  <a:extLst>
                    <a:ext uri="{9D8B030D-6E8A-4147-A177-3AD203B41FA5}">
                      <a16:colId xmlns:a16="http://schemas.microsoft.com/office/drawing/2014/main" val="20000"/>
                    </a:ext>
                  </a:extLst>
                </a:gridCol>
                <a:gridCol w="1977390">
                  <a:extLst>
                    <a:ext uri="{9D8B030D-6E8A-4147-A177-3AD203B41FA5}">
                      <a16:colId xmlns:a16="http://schemas.microsoft.com/office/drawing/2014/main" val="20001"/>
                    </a:ext>
                  </a:extLst>
                </a:gridCol>
                <a:gridCol w="3163824">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입력</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미국 실증</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국내</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59045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지표 변위</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NASA OPERA</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수자원위성(레이더) 2027 발사 목표, 아리랑 6호 2027년 2분기 예상</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밭별 물 사용</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Landsat 증발산</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농림위성 2026.7.7 발사(5m, 3일 주기)</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관측정 수위</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DWR 관측정 30곳</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국가지하수관측망, 제주 관측정 151곳</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관리 기준</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수로 침하 연 0.5인치</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B2533"/>
                          </a:solidFill>
                          <a:latin typeface="IBM Plex Sans KR" pitchFamily="34" charset="0"/>
                          <a:ea typeface="IBM Plex Sans KR" pitchFamily="34" charset="-122"/>
                          <a:cs typeface="IBM Plex Sans KR" pitchFamily="34" charset="-120"/>
                        </a:rPr>
                        <a:t>굴착공사 관리기준, 지하수 수위 하한</a:t>
                      </a:r>
                      <a:endParaRPr lang="en-US" sz="1300" dirty="0">
                        <a:latin typeface="IBM Plex Sans KR" charset="0"/>
                        <a:ea typeface="IBM Plex Sans KR" charset="0"/>
                        <a:cs typeface="IBM Plex Sans KR"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721600" y="1921470"/>
            <a:ext cx="3657600" cy="1418431"/>
          </a:xfrm>
          <a:prstGeom prst="roundRect">
            <a:avLst>
              <a:gd name="adj" fmla="val 7163"/>
            </a:avLst>
          </a:prstGeom>
          <a:solidFill>
            <a:srgbClr val="0E1A2B"/>
          </a:solidFill>
          <a:ln/>
        </p:spPr>
        <p:txBody>
          <a:bodyPr/>
          <a:lstStyle/>
          <a:p>
            <a:endParaRPr lang="ko-KR" altLang="en-US"/>
          </a:p>
        </p:txBody>
      </p:sp>
      <p:sp>
        <p:nvSpPr>
          <p:cNvPr id="6" name="Text 3"/>
          <p:cNvSpPr/>
          <p:nvPr/>
        </p:nvSpPr>
        <p:spPr>
          <a:xfrm>
            <a:off x="7924800" y="2099270"/>
            <a:ext cx="33487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KR" pitchFamily="34" charset="0"/>
                <a:ea typeface="IBM Plex Sans KR" pitchFamily="34" charset="-122"/>
                <a:cs typeface="IBM Plex Sans KR" pitchFamily="34" charset="-120"/>
              </a:rPr>
              <a:t>우주항공청·NIA 위성 지반변위 공모 (2026.6)</a:t>
            </a:r>
            <a:endParaRPr lang="en-US" sz="1200" dirty="0"/>
          </a:p>
        </p:txBody>
      </p:sp>
      <p:sp>
        <p:nvSpPr>
          <p:cNvPr id="7" name="Text 4"/>
          <p:cNvSpPr/>
          <p:nvPr/>
        </p:nvSpPr>
        <p:spPr>
          <a:xfrm>
            <a:off x="7924800" y="2363391"/>
            <a:ext cx="3348736"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0A35E"/>
                </a:solidFill>
                <a:latin typeface="IBM Plex Sans KR" pitchFamily="34" charset="0"/>
                <a:ea typeface="IBM Plex Sans KR" pitchFamily="34" charset="-122"/>
                <a:cs typeface="IBM Plex Sans KR" pitchFamily="34" charset="-120"/>
              </a:rPr>
              <a:t>14개 컨소시엄 경쟁</a:t>
            </a:r>
            <a:endParaRPr lang="en-US" sz="2200" dirty="0"/>
          </a:p>
        </p:txBody>
      </p:sp>
      <p:sp>
        <p:nvSpPr>
          <p:cNvPr id="8" name="Text 5"/>
          <p:cNvSpPr/>
          <p:nvPr/>
        </p:nvSpPr>
        <p:spPr>
          <a:xfrm>
            <a:off x="7924800" y="2735461"/>
            <a:ext cx="334873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KR" pitchFamily="34" charset="0"/>
                <a:ea typeface="IBM Plex Sans KR" pitchFamily="34" charset="-122"/>
                <a:cs typeface="IBM Plex Sans KR" pitchFamily="34" charset="-120"/>
              </a:rPr>
              <a:t>제주 1위 · 5.33억 원 · 레이더 변위 + 시간 단위 지하수위 → 위험 지도</a:t>
            </a:r>
            <a:endParaRPr lang="en-US" sz="1200" dirty="0"/>
          </a:p>
        </p:txBody>
      </p:sp>
      <p:sp>
        <p:nvSpPr>
          <p:cNvPr id="9" name="Text 6"/>
          <p:cNvSpPr/>
          <p:nvPr/>
        </p:nvSpPr>
        <p:spPr>
          <a:xfrm>
            <a:off x="7721600" y="3466902"/>
            <a:ext cx="3767328" cy="50413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C4656"/>
                </a:solidFill>
                <a:latin typeface="IBM Plex Sans KR" pitchFamily="34" charset="0"/>
                <a:ea typeface="IBM Plex Sans KR" pitchFamily="34" charset="-122"/>
                <a:cs typeface="IBM Plex Sans KR" pitchFamily="34" charset="-120"/>
              </a:rPr>
              <a:t>공공이 이미 '위험 지도'를 산다. AquaLimit은 그 다음 단계, “어느 관정을 얼마나 줄일지”를 계산한다.</a:t>
            </a:r>
            <a:endParaRPr lang="en-US" sz="1300" dirty="0"/>
          </a:p>
        </p:txBody>
      </p:sp>
      <p:sp>
        <p:nvSpPr>
          <p:cNvPr id="10" name="Text 7"/>
          <p:cNvSpPr/>
          <p:nvPr/>
        </p:nvSpPr>
        <p:spPr>
          <a:xfrm>
            <a:off x="815975" y="4193679"/>
            <a:ext cx="5200650" cy="722610"/>
          </a:xfrm>
          <a:prstGeom prst="roundRect">
            <a:avLst>
              <a:gd name="adj" fmla="val 10106"/>
            </a:avLst>
          </a:prstGeom>
          <a:solidFill>
            <a:srgbClr val="FBFAF6"/>
          </a:solidFill>
          <a:ln w="6350">
            <a:solidFill>
              <a:srgbClr val="DAD6CB"/>
            </a:solidFill>
            <a:prstDash val="solid"/>
          </a:ln>
        </p:spPr>
        <p:txBody>
          <a:bodyPr wrap="square" lIns="134187" tIns="108787" rIns="0" bIns="83387" rtlCol="0" anchor="t">
            <a:normAutofit/>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시범 A · 도심 굴착공사</a:t>
            </a:r>
            <a:r>
              <a:rPr lang="en-US" sz="1300" dirty="0">
                <a:solidFill>
                  <a:srgbClr val="1B2533"/>
                </a:solidFill>
                <a:latin typeface="IBM Plex Sans KR" pitchFamily="34" charset="0"/>
                <a:ea typeface="IBM Plex Sans KR" pitchFamily="34" charset="-122"/>
                <a:cs typeface="IBM Plex Sans KR" pitchFamily="34" charset="-120"/>
              </a:rPr>
              <a:t> 배수정별 양수량 (광명 신안산선 붕괴 2025.4)</a:t>
            </a:r>
            <a:endParaRPr lang="en-US" sz="1300" dirty="0"/>
          </a:p>
        </p:txBody>
      </p:sp>
      <p:sp>
        <p:nvSpPr>
          <p:cNvPr id="11" name="Text 8"/>
          <p:cNvSpPr/>
          <p:nvPr/>
        </p:nvSpPr>
        <p:spPr>
          <a:xfrm>
            <a:off x="6175375" y="4193679"/>
            <a:ext cx="5200650" cy="722610"/>
          </a:xfrm>
          <a:prstGeom prst="roundRect">
            <a:avLst>
              <a:gd name="adj" fmla="val 10106"/>
            </a:avLst>
          </a:prstGeom>
          <a:solidFill>
            <a:srgbClr val="FBFAF6"/>
          </a:solidFill>
          <a:ln w="6350">
            <a:solidFill>
              <a:srgbClr val="DAD6CB"/>
            </a:solidFill>
            <a:prstDash val="solid"/>
          </a:ln>
        </p:spPr>
        <p:txBody>
          <a:bodyPr wrap="square" lIns="134187" tIns="108787" rIns="0" bIns="83387" rtlCol="0" anchor="t">
            <a:normAutofit/>
          </a:bodyPr>
          <a:lstStyle/>
          <a:p>
            <a:pPr marL="0" indent="0" algn="l">
              <a:lnSpc>
                <a:spcPts val="1820"/>
              </a:lnSpc>
              <a:buNone/>
            </a:pPr>
            <a:r>
              <a:rPr lang="en-US" sz="1300" b="1" dirty="0">
                <a:solidFill>
                  <a:srgbClr val="1B2533"/>
                </a:solidFill>
                <a:latin typeface="IBM Plex Sans KR" pitchFamily="34" charset="0"/>
                <a:ea typeface="IBM Plex Sans KR" pitchFamily="34" charset="-122"/>
                <a:cs typeface="IBM Plex Sans KR" pitchFamily="34" charset="-120"/>
              </a:rPr>
              <a:t>시범 B · 제주 취수 배분</a:t>
            </a:r>
            <a:r>
              <a:rPr lang="en-US" sz="1300" dirty="0">
                <a:solidFill>
                  <a:srgbClr val="1B2533"/>
                </a:solidFill>
                <a:latin typeface="IBM Plex Sans KR" pitchFamily="34" charset="0"/>
                <a:ea typeface="IBM Plex Sans KR" pitchFamily="34" charset="-122"/>
                <a:cs typeface="IBM Plex Sans KR" pitchFamily="34" charset="-120"/>
              </a:rPr>
              <a:t> 가뭄 시 관정별 감량 순서 (서부 수위 −1.6m, 2026)</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출처: 머니투데이 2026.7.7·6.25, 서울신문 2026.6.30, YTN 2025.5.26, 파이낸셜뉴스 2026.10.6</a:t>
            </a:r>
            <a:endParaRPr lang="en-US" sz="1200" dirty="0"/>
          </a:p>
        </p:txBody>
      </p:sp>
    </p:spTree>
  </p:cSld>
  <p:clrMapOvr>
    <a:masterClrMapping/>
  </p:clrMapOvr>
</p:sld>
</file>

<file path=ppt/theme/theme1.xml><?xml version="1.0" encoding="utf-8"?>
<a:theme xmlns:a="http://schemas.openxmlformats.org/drawingml/2006/main" name="AquaLimit 10/28 발표">
  <a:themeElements>
    <a:clrScheme name="AquaLimit 10/28 발표">
      <a:dk1>
        <a:srgbClr val="0E1A2B"/>
      </a:dk1>
      <a:lt1>
        <a:srgbClr val="F4F2EC"/>
      </a:lt1>
      <a:dk2>
        <a:srgbClr val="48505B"/>
      </a:dk2>
      <a:lt2>
        <a:srgbClr val="DDDCD9"/>
      </a:lt2>
      <a:accent1>
        <a:srgbClr val="2459C4"/>
      </a:accent1>
      <a:accent2>
        <a:srgbClr val="C2571A"/>
      </a:accent2>
      <a:accent3>
        <a:srgbClr val="F0A35E"/>
      </a:accent3>
      <a:accent4>
        <a:srgbClr val="8DB4F5"/>
      </a:accent4>
      <a:accent5>
        <a:srgbClr val="3C4656"/>
      </a:accent5>
      <a:accent6>
        <a:srgbClr val="6B7480"/>
      </a:accent6>
      <a:hlink>
        <a:srgbClr val="0563C1"/>
      </a:hlink>
      <a:folHlink>
        <a:srgbClr val="954F72"/>
      </a:folHlink>
    </a:clrScheme>
    <a:fontScheme name="AquaLimit 10/28 발표">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725</TotalTime>
  <Words>5431</Words>
  <Application>Microsoft Macintosh PowerPoint</Application>
  <PresentationFormat>와이드스크린</PresentationFormat>
  <Paragraphs>522</Paragraphs>
  <Slides>20</Slides>
  <Notes>20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IBM Plex Sans KR</vt:lpstr>
      <vt:lpstr>Arial</vt:lpstr>
      <vt:lpstr>IBM Plex Mono</vt:lpstr>
      <vt:lpstr>AquaLimit 10/28 발표</vt:lpstr>
      <vt:lpstr>AquaLimit</vt:lpstr>
      <vt:lpstr>2주 동안 실제 자료로 검증하고, 정책 비교까지 했다</vt:lpstr>
      <vt:lpstr>수로 주변 취수를 금지했는데, 침하가 줄지 않았다</vt:lpstr>
      <vt:lpstr>위성이 잰 침하로, 어느 우물을 얼마나 줄일지 계산한다</vt:lpstr>
      <vt:lpstr>실험 원칙: 세 갈래 자료를 섞지 않는다</vt:lpstr>
      <vt:lpstr>점토가 늦게 눌리는 것과 과거 가뭄을 넣으면?</vt:lpstr>
      <vt:lpstr>날씨·수로 물·밭 정보가 각각 도움이 되나?</vt:lpstr>
      <vt:lpstr>취수가 바뀐 실제 사건을 모델이 맞히나?</vt:lpstr>
      <vt:lpstr>모델 구조를 바꾸면 3년 예측이 좋아지나?</vt:lpstr>
      <vt:lpstr>정답으로 쓴 위성 자료가 맞나? GPS로 먼저 테스트</vt:lpstr>
      <vt:lpstr>3년 예측을 추세 연장보다 정확하게 만들 수 있나?</vt:lpstr>
      <vt:lpstr>위성을 넣으면 오차가 3분의 1로, 취수 변화 효과도 맞혔다</vt:lpstr>
      <vt:lpstr>아직 틀리는 것을 먼저 말한다</vt:lpstr>
      <vt:lpstr>금지 후에도 금지구역 안 취수가 계속됐을 가능성이 높다</vt:lpstr>
      <vt:lpstr>금지를 다 지켜도, 평년엔 수로 절반이 기준을 넘는다</vt:lpstr>
      <vt:lpstr>같은 신뢰도에서 반경 확대보다 10~29% 싸다</vt:lpstr>
      <vt:lpstr>빠른 계산으로 푼 계획이 물리모델에서도 기준을 지키나?</vt:lpstr>
      <vt:lpstr>어느 칸에 우물을 놓아도 1초 안에 계획한다</vt:lpstr>
      <vt:lpstr>첫 고객은 금지 연장을 6개월마다 정하는 관리기관</vt:lpstr>
      <vt:lpstr>엔진은 그대로, 입력을 국산 위성으로 바꾼다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AquaLimit 10/28 발표</dc:title>
  <dc:subject/>
  <dc:creator/>
  <cp:lastModifiedBy>최서윤[컴퓨터정보공학과]</cp:lastModifiedBy>
  <cp:revision>15</cp:revision>
  <dcterms:created xsi:type="dcterms:W3CDTF">2026-10-27T06:45:35Z</dcterms:created>
  <dcterms:modified xsi:type="dcterms:W3CDTF">2026-10-28T04:15:03Z</dcterms:modified>
</cp:coreProperties>
</file>